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8"/>
  </p:notesMasterIdLst>
  <p:sldIdLst>
    <p:sldId id="256" r:id="rId2"/>
    <p:sldId id="260" r:id="rId3"/>
    <p:sldId id="266" r:id="rId4"/>
    <p:sldId id="267" r:id="rId5"/>
    <p:sldId id="270" r:id="rId6"/>
    <p:sldId id="271" r:id="rId7"/>
    <p:sldId id="272" r:id="rId8"/>
    <p:sldId id="273" r:id="rId9"/>
    <p:sldId id="274" r:id="rId10"/>
    <p:sldId id="261" r:id="rId11"/>
    <p:sldId id="268" r:id="rId12"/>
    <p:sldId id="262" r:id="rId13"/>
    <p:sldId id="263" r:id="rId14"/>
    <p:sldId id="258" r:id="rId15"/>
    <p:sldId id="264" r:id="rId16"/>
    <p:sldId id="257" r:id="rId17"/>
  </p:sldIdLst>
  <p:sldSz cx="12192000" cy="6858000"/>
  <p:notesSz cx="6858000" cy="9144000"/>
  <p:embeddedFontLst>
    <p:embeddedFont>
      <p:font typeface="TH Sarabun New" panose="020B0500040200020003" pitchFamily="34" charset="-34"/>
      <p:regular r:id="rId19"/>
      <p:bold r:id="rId20"/>
      <p:italic r:id="rId21"/>
      <p:boldItalic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25252"/>
    <a:srgbClr val="1D3B6D"/>
    <a:srgbClr val="EDEDED"/>
    <a:srgbClr val="C9C6E5"/>
    <a:srgbClr val="52B3E6"/>
    <a:srgbClr val="5CC5E5"/>
    <a:srgbClr val="406CB3"/>
    <a:srgbClr val="0190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544" autoAdjust="0"/>
    <p:restoredTop sz="94310" autoAdjust="0"/>
  </p:normalViewPr>
  <p:slideViewPr>
    <p:cSldViewPr snapToGrid="0">
      <p:cViewPr varScale="1">
        <p:scale>
          <a:sx n="104" d="100"/>
          <a:sy n="104" d="100"/>
        </p:scale>
        <p:origin x="106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BD216B-848F-4170-9C3D-DBAC3BB4E99A}" type="datetimeFigureOut">
              <a:rPr lang="en-GB" smtClean="0"/>
              <a:t>15/03/2026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140616-5FCA-4B4A-80DF-C1D05424B7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16457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h-TH" dirty="0"/>
              <a:t>สวัสดีอาจารย์และเพื่อน ๆ ทุกท่านครับ</a:t>
            </a:r>
          </a:p>
          <a:p>
            <a:r>
              <a:rPr lang="th-TH" dirty="0"/>
              <a:t>ผมมานำเสนอโครงงาน เรื่อง *เกมเพื่อการเรียนรู้ภาษาอังกฤษ*</a:t>
            </a:r>
          </a:p>
          <a:p>
            <a:r>
              <a:rPr lang="th-TH" dirty="0"/>
              <a:t>โครงงานนี้มีแนวคิดหลักคือการนำเกมดิจิทัล มาประยุกต์ใช้เป็นเครื่องมือในการส่งเสริมการเรียนรู้ภาษาอังกฤษให้เกิดความสนุก ลดความกดดัน และเพิ่มแรงจูงใจในการเรียนครับ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140616-5FCA-4B4A-80DF-C1D05424B796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41014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h-TH" dirty="0"/>
              <a:t>ในยุคปัจจุบัน ภาษาอังกฤษถือเป็นทักษะที่มีความจำเป็นอย่างยิ่ง ทั้งในด้านการสื่อสาร การศึกษา และการเข้าถึงข้อมูลในระดับสากล  </a:t>
            </a:r>
          </a:p>
          <a:p>
            <a:r>
              <a:rPr lang="th-TH" dirty="0"/>
              <a:t>อย่างไรก็ตาม จากการสังเกตและศึกษาพบว่า เด็กและเยาวชนไทยจำนวนมากยังประสบปัญหาในการเรียนภาษาอังกฤษ เช่น ขาดความมั่นใจในการสื่อสาร </a:t>
            </a:r>
          </a:p>
          <a:p>
            <a:r>
              <a:rPr lang="th-TH" dirty="0"/>
              <a:t>รู้สึกเฉยๆกับการเรียนในห้องเรียนทำให้ไม่ได้เรียนรู้อย่างมีประสิทธิภาพ และขาดแรงจูงใจในการฝึกฝนอย่างต่อเนื่อง</a:t>
            </a:r>
          </a:p>
          <a:p>
            <a:endParaRPr lang="th-TH" dirty="0"/>
          </a:p>
          <a:p>
            <a:r>
              <a:rPr lang="th-TH" dirty="0"/>
              <a:t>ในขณะเดียวกัน เกมออนไลน์กลับเป็นสื่อที่ได้รับความนิยมสูงในกลุ่มเยาวชน ผมจึงเล็งเห็นโอกาสในการเปลี่ยนกิจกรรมการเล่นเกม ให้กลายเป็นเครื่องมือในการเรียนรู้</a:t>
            </a:r>
          </a:p>
          <a:p>
            <a:r>
              <a:rPr lang="th-TH" dirty="0"/>
              <a:t>ผ่านแนวคิด ‘</a:t>
            </a:r>
            <a:r>
              <a:rPr lang="en-GB" dirty="0"/>
              <a:t>Game-based Learning ’  </a:t>
            </a:r>
          </a:p>
          <a:p>
            <a:r>
              <a:rPr lang="th-TH" dirty="0"/>
              <a:t>โดยเลือกใช้แพลตฟอร์ม </a:t>
            </a:r>
            <a:r>
              <a:rPr lang="en-GB" dirty="0"/>
              <a:t>Roblox </a:t>
            </a:r>
            <a:r>
              <a:rPr lang="th-TH" dirty="0"/>
              <a:t>ซึ่งเป็นแพลตฟอร์มที่เข้าถึงง่าย มีฐานผู้เล่นวัยเยาว์จำนวนมาก และเอื้อต่อการออกแบบกิจกรรมเชิงการเรียนรู้อย่างเหมาะสมครับ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140616-5FCA-4B4A-80DF-C1D05424B796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70947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h-TH" dirty="0"/>
              <a:t>โครงงานนี้มีวัตถุประสงค์หลักในการพัฒนาเกม บนแพลตฟอร์ม </a:t>
            </a:r>
            <a:r>
              <a:rPr lang="en-GB" dirty="0"/>
              <a:t>Roblox </a:t>
            </a:r>
            <a:r>
              <a:rPr lang="th-TH" dirty="0"/>
              <a:t>สำหรับเด็กและเยาวชน</a:t>
            </a:r>
          </a:p>
          <a:p>
            <a:r>
              <a:rPr lang="th-TH" dirty="0"/>
              <a:t>โดยมุ่งเน้นการพัฒนาทักษะภาษาอังกฤษที่สำคัญ ได้แก่ ทักษะการอ่าน การฟัง และการเขียน ผ่านสถานการณ์จำลองภายในเกม รวมถึงการเสริมสร้างแรงจูงใจ และความมั่นใจในการใช้ภาษาอังกฤษของผู้เล่น เพื่อให้เกิดการเรียนรู้อย่างเป็นธรรมชาติครับ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140616-5FCA-4B4A-80DF-C1D05424B796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28490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h-TH" dirty="0"/>
              <a:t>ในส่วนของขอบเขตของโครงงาน กลุ่มเป้าหมายหลักคือเด็กและเยาวชนที่มีอายุประมาณ 9 ถึง 15 ปี ซึ่งเป็นช่วงอายุที่คุ้นเคยกับการเล่นเกม</a:t>
            </a:r>
          </a:p>
          <a:p>
            <a:endParaRPr lang="th-TH" dirty="0"/>
          </a:p>
          <a:p>
            <a:r>
              <a:rPr lang="th-TH" b="0" dirty="0"/>
              <a:t>เนื้อหาที่นำมาใช้ในเกมจะอ้างอิงจากบทสนทนาภาษาอังกฤษในชีวิตประจำวัน โดยเน้นคำศัพท์และสถานการณ์พื้นฐาน เช่น การทักทาย การบอกเส้นทาง และการโต้ตอบกับ</a:t>
            </a:r>
            <a:r>
              <a:rPr lang="th-T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ตัวละคร</a:t>
            </a:r>
            <a:r>
              <a:rPr lang="th-TH" b="0" dirty="0"/>
              <a:t>ภายในเกม</a:t>
            </a:r>
          </a:p>
          <a:p>
            <a:endParaRPr lang="th-TH" b="1" dirty="0"/>
          </a:p>
          <a:p>
            <a:r>
              <a:rPr lang="th-TH" dirty="0"/>
              <a:t>ในด้านเทคนิค โครงงานนี้พัฒนาเกมบนแพลตฟอร์ม </a:t>
            </a:r>
            <a:r>
              <a:rPr lang="en-GB" dirty="0"/>
              <a:t>Roblox </a:t>
            </a:r>
            <a:endParaRPr lang="th-TH" dirty="0"/>
          </a:p>
          <a:p>
            <a:r>
              <a:rPr lang="th-TH" dirty="0"/>
              <a:t>โดยใช้ </a:t>
            </a:r>
            <a:r>
              <a:rPr lang="en-GB" dirty="0"/>
              <a:t>Roblox Studio </a:t>
            </a:r>
            <a:r>
              <a:rPr lang="th-TH" dirty="0"/>
              <a:t>และภาษา </a:t>
            </a:r>
            <a:r>
              <a:rPr lang="en-GB" dirty="0"/>
              <a:t>Luau </a:t>
            </a:r>
            <a:r>
              <a:rPr lang="th-TH" dirty="0"/>
              <a:t>ในการเขียนสคริปต์ </a:t>
            </a:r>
          </a:p>
          <a:p>
            <a:r>
              <a:rPr lang="th-TH" dirty="0"/>
              <a:t>โดบตัวเกมรองรับการเล่นได้ทั้งบน คอมพิวเตอร์ และอุปกรณ์มือถือครับ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140616-5FCA-4B4A-80DF-C1D05424B796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60778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h-TH" dirty="0"/>
              <a:t>โครงงานนี้อ้างอิงแนวคิด </a:t>
            </a:r>
            <a:r>
              <a:rPr lang="en-GB" dirty="0"/>
              <a:t>Communicative Language Teaching </a:t>
            </a:r>
            <a:r>
              <a:rPr lang="th-TH" dirty="0"/>
              <a:t>ซึ่งเน้นให้ผู้เรียนได้ใช้ภาษาในสถานการณ์จริง มากกว่าการท่องจำเพียงอย่างเดียว </a:t>
            </a:r>
          </a:p>
          <a:p>
            <a:r>
              <a:rPr lang="th-TH" dirty="0"/>
              <a:t>โดยจำลองบริบทภายในเกม</a:t>
            </a:r>
          </a:p>
          <a:p>
            <a:r>
              <a:rPr lang="th-TH" dirty="0"/>
              <a:t>ด้วยบทสนทนากับ</a:t>
            </a:r>
            <a:r>
              <a:rPr lang="th-T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ตัวละครในเกม </a:t>
            </a:r>
            <a:r>
              <a:rPr lang="th-TH" dirty="0"/>
              <a:t>หรือการฟังเสียง</a:t>
            </a:r>
          </a:p>
          <a:p>
            <a:r>
              <a:rPr lang="th-TH" dirty="0"/>
              <a:t>ให้ผู้เล่นต้องทำความเข้าใจภาษา</a:t>
            </a:r>
          </a:p>
          <a:p>
            <a:r>
              <a:rPr lang="th-TH" dirty="0"/>
              <a:t>และสื่อสารตอบโต้ออกมาด้วยการพิมพ์ เพื่อให้บรรลุเป้าหมายนั้นๆ</a:t>
            </a:r>
          </a:p>
          <a:p>
            <a:endParaRPr lang="th-TH" dirty="0"/>
          </a:p>
          <a:p>
            <a:r>
              <a:rPr lang="th-TH" dirty="0"/>
              <a:t>แนวคิดดังกล่าวถูกนำมาผสมผสานกับการเรียนรู้แบบ </a:t>
            </a:r>
            <a:r>
              <a:rPr lang="en-GB" dirty="0"/>
              <a:t>Game-based Learning </a:t>
            </a:r>
          </a:p>
          <a:p>
            <a:r>
              <a:rPr lang="th-TH" dirty="0"/>
              <a:t>เพื่อให้ผู้เรียนได้เรียนรู้ผ่านการลงมือทำ การแก้ปัญหา และการโต้ตอบภายในเกม</a:t>
            </a:r>
          </a:p>
          <a:p>
            <a:r>
              <a:rPr lang="th-TH" dirty="0"/>
              <a:t>และตัวเกมยังแบ่งความยากง่ายของภารกิจตามทักษะของผู้เล่นเพื่อปรับความท้ายทายของเกมให้เหมาะสมกับผู้เล่นที่มีทักษะในระดับที่แตกต่างกัน</a:t>
            </a:r>
          </a:p>
          <a:p>
            <a:r>
              <a:rPr lang="th-TH" dirty="0"/>
              <a:t>ซึ่งช่วยลดความตึงเครียดและเพิ่มประสิทธิภาพในการเรียนรู้ภาษาอังกฤษครับ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140616-5FCA-4B4A-80DF-C1D05424B796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02804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h-TH" dirty="0"/>
              <a:t>โดยแนวคิดการออบแบบเกม</a:t>
            </a:r>
          </a:p>
          <a:p>
            <a:r>
              <a:rPr lang="th-TH" dirty="0"/>
              <a:t>ใช้ เทคนิคการ </a:t>
            </a:r>
            <a:r>
              <a:rPr lang="en-GB" dirty="0"/>
              <a:t>Copy to Development </a:t>
            </a:r>
            <a:r>
              <a:rPr lang="th-TH" dirty="0"/>
              <a:t>โดยการหยิบยืม </a:t>
            </a:r>
            <a:r>
              <a:rPr lang="en-GB" dirty="0"/>
              <a:t>Mechanic </a:t>
            </a:r>
            <a:r>
              <a:rPr lang="th-TH" dirty="0"/>
              <a:t>จากเกมต่างๆ ในตลาดที่ประสบความสำเร็จ มา พัฒนา ดัดแปลงให้เป็นเกมของเราเอง</a:t>
            </a:r>
          </a:p>
          <a:p>
            <a:r>
              <a:rPr lang="th-TH" dirty="0"/>
              <a:t>เพื่อให้การออกแบบเกมง่ายขึ้น สามารถออกแบบเกมได้เร็วขึ้น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140616-5FCA-4B4A-80DF-C1D05424B796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47298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h-TH" dirty="0"/>
              <a:t>การพัฒนาเกม ใช้แพลตฟอร์ม </a:t>
            </a:r>
            <a:r>
              <a:rPr lang="en-GB" dirty="0"/>
              <a:t>Roblox </a:t>
            </a:r>
            <a:r>
              <a:rPr lang="th-TH" dirty="0"/>
              <a:t>ซึ่งเป็น </a:t>
            </a:r>
            <a:r>
              <a:rPr lang="en-GB" dirty="0"/>
              <a:t>Game Engine </a:t>
            </a:r>
            <a:r>
              <a:rPr lang="th-TH" dirty="0"/>
              <a:t>ที่ประมวลผลระบบฟิสิกส์  และกราฟิกแบบ 3</a:t>
            </a:r>
            <a:r>
              <a:rPr lang="en-GB" dirty="0"/>
              <a:t>D </a:t>
            </a:r>
            <a:endParaRPr lang="th-TH" dirty="0"/>
          </a:p>
          <a:p>
            <a:r>
              <a:rPr lang="th-TH" dirty="0"/>
              <a:t>โดยใช้ </a:t>
            </a:r>
            <a:r>
              <a:rPr lang="en-GB" dirty="0"/>
              <a:t>Roblox Studio </a:t>
            </a:r>
            <a:r>
              <a:rPr lang="th-TH" dirty="0"/>
              <a:t>เป็นเครื่องมือในการพัฒนา</a:t>
            </a:r>
          </a:p>
          <a:p>
            <a:r>
              <a:rPr lang="th-TH" dirty="0"/>
              <a:t>ภาษา </a:t>
            </a:r>
            <a:r>
              <a:rPr lang="en-GB" dirty="0"/>
              <a:t>Luau </a:t>
            </a:r>
            <a:r>
              <a:rPr lang="th-TH" dirty="0"/>
              <a:t>ในการเขียนสคริปต์ ควบคุมการทำงานทั้งหมดภายในเกม</a:t>
            </a:r>
          </a:p>
          <a:p>
            <a:r>
              <a:rPr lang="th-TH" dirty="0"/>
              <a:t>โดย </a:t>
            </a:r>
            <a:r>
              <a:rPr lang="en-GB" dirty="0"/>
              <a:t>Roblox </a:t>
            </a:r>
            <a:r>
              <a:rPr lang="th-TH" dirty="0"/>
              <a:t>ใช้ </a:t>
            </a:r>
            <a:r>
              <a:rPr lang="en-GB" dirty="0"/>
              <a:t>Client–Server Model </a:t>
            </a:r>
            <a:r>
              <a:rPr lang="th-TH" dirty="0"/>
              <a:t>กระบวนการซิงค์ข้อมูลระหว่าง </a:t>
            </a:r>
            <a:r>
              <a:rPr lang="en-GB" dirty="0"/>
              <a:t>Server </a:t>
            </a:r>
            <a:r>
              <a:rPr lang="th-TH" dirty="0"/>
              <a:t>และ </a:t>
            </a:r>
            <a:r>
              <a:rPr lang="en-GB" dirty="0"/>
              <a:t>Client </a:t>
            </a:r>
            <a:r>
              <a:rPr lang="th-TH" dirty="0"/>
              <a:t>เพื่อให้ผู้เล่นทุกคนเห็นภาพเดียวกัน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140616-5FCA-4B4A-80DF-C1D05424B796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93456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F23CF2-952B-0C0B-12AD-BF5502BC6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05AA32-390C-5937-F03D-2F90BB3FEB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EE3380-0C03-DBCF-E161-FE8408846A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h-TH" dirty="0"/>
              <a:t>แนวคิดการเรียนรู้คือ ถ้าเกมสนุก เด็กก็อยากเล่น </a:t>
            </a:r>
          </a:p>
          <a:p>
            <a:r>
              <a:rPr lang="th-TH" dirty="0"/>
              <a:t>และถ้าเด็กอยากเล่น เด็กก็อยากเข้าใจภาษาอังกฤษในเกมเองโดยธรรมชาติ</a:t>
            </a:r>
          </a:p>
          <a:p>
            <a:r>
              <a:rPr lang="th-TH" dirty="0"/>
              <a:t>ในเกม จะเน้นบทสนทนาและคำศัพท์ที่ใช้ในชีวิตประจำวัน เช่น การทักทาย การซื้อขาย หรือการบอกทิศทาง </a:t>
            </a:r>
          </a:p>
          <a:p>
            <a:r>
              <a:rPr lang="th-TH" dirty="0"/>
              <a:t>ซึ่งเป็นสถานการณ์ที่เด็กสามารถนำไปใช้ได้จริง</a:t>
            </a:r>
          </a:p>
          <a:p>
            <a:endParaRPr lang="th-TH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th-T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ทำให้เด็กได้ฝึกภาษาอังกฤษไปพร้อมกับการเล่นเกมอย่างสนุกสนานครับ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th-TH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th-TH" dirty="0"/>
          </a:p>
          <a:p>
            <a:endParaRPr lang="th-T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96C718-0B0F-1D84-6847-EB71E8420B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140616-5FCA-4B4A-80DF-C1D05424B796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71462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C3E0BF-1CE3-03D5-432B-F863C4A92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728508-493B-7F2D-6064-346205E190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1940FF-D6FB-51CA-5D91-225A41E8A4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h-TH" dirty="0"/>
              <a:t>ในส่วนของการวัดผลจะใช้การประเมินผลในรูปแบบที่เหมาะสมกับเด็ก</a:t>
            </a:r>
          </a:p>
          <a:p>
            <a:endParaRPr lang="th-TH" dirty="0"/>
          </a:p>
          <a:p>
            <a:r>
              <a:rPr lang="th-TH" dirty="0"/>
              <a:t>เริ่มจากมี</a:t>
            </a:r>
            <a:r>
              <a:rPr lang="th-TH" dirty="0" err="1"/>
              <a:t>การทำ</a:t>
            </a:r>
            <a:r>
              <a:rPr lang="th-TH" dirty="0"/>
              <a:t>แบบทดสอบก่อนเล่นและหลังเล่นเกม เพื่อเปรียบเทียบพัฒนาการด้านภาษา</a:t>
            </a:r>
          </a:p>
          <a:p>
            <a:r>
              <a:rPr lang="th-TH" dirty="0"/>
              <a:t>โดยผู้ปกครองจะมีส่วนร่วมเป็นผู้สังเกตพฤติกรรมด้วย</a:t>
            </a:r>
          </a:p>
          <a:p>
            <a:r>
              <a:rPr lang="th-TH" dirty="0"/>
              <a:t>และมีการบันทึกพฤติกรรมการเล่นภายในเกม </a:t>
            </a:r>
          </a:p>
          <a:p>
            <a:r>
              <a:rPr lang="th-TH" dirty="0"/>
              <a:t>เช่น เวลาในการเล่น และ</a:t>
            </a:r>
            <a:r>
              <a:rPr lang="th-TH" dirty="0" err="1"/>
              <a:t>การทำ</a:t>
            </a:r>
            <a:r>
              <a:rPr lang="th-TH" dirty="0"/>
              <a:t>ภารกิจสำเร็จ</a:t>
            </a:r>
          </a:p>
          <a:p>
            <a:r>
              <a:rPr lang="th-TH" dirty="0"/>
              <a:t>ซึ่งจะช่วยให้เห็นว่าเกมสามารถช่วยส่งเสริมการเรียนรู้ภาษาอังกฤษของเด็กได้จริงมากน้อยแค่ไหนครับ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6B92F7-7052-B3ED-1979-CCB7A265D7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140616-5FCA-4B4A-80DF-C1D05424B796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5784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h-TH" dirty="0"/>
              <a:t>ในด้านขั้นตอนการดำเนินงาน ผมเริ่มจากการศึกษาทฤษฎีที่เกี่ยวข้องกับการออกแบบเกม และการเรียนรู้ภาษาอังกฤษ </a:t>
            </a:r>
          </a:p>
          <a:p>
            <a:r>
              <a:rPr lang="th-TH" dirty="0"/>
              <a:t>จากนั้นจึงศึกษาแพลตฟอร์ม </a:t>
            </a:r>
            <a:r>
              <a:rPr lang="en-GB" dirty="0"/>
              <a:t>Roblox </a:t>
            </a:r>
            <a:r>
              <a:rPr lang="th-TH" dirty="0"/>
              <a:t>และตัวอย่างเกมการศึกษา เพื่อนำมาประยุกต์ใช้ในการออกแบบกลไกของเกม</a:t>
            </a:r>
          </a:p>
          <a:p>
            <a:r>
              <a:rPr lang="th-TH" dirty="0"/>
              <a:t>เมื่อออกแบบโครงสร้างของเกมแล้ว จึงเริ่มพัฒนาเกมต้นแบบ </a:t>
            </a:r>
          </a:p>
          <a:p>
            <a:r>
              <a:rPr lang="th-TH" dirty="0"/>
              <a:t>ทำการทดสอบกับกลุ่มเป้าหมาย และนำข้อเสนอแนะที่ได้มาปรับปรุงแก้ไข เพื่อให้เกมมีความเหมาะสมทั้งในด้านความสนุกและประสิทธิภาพทางการเรียนรู้ครับ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140616-5FCA-4B4A-80DF-C1D05424B796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53309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h-TH" dirty="0"/>
              <a:t>คาดว่าโครงงานนี้จะช่วยให้ผู้เรียนมีทักษะภาษาอังกฤษที่ดีขึ้น มีความมั่นใจในการสื่อสาร และลดความวิตกกังวลในการใช้ภาษา  </a:t>
            </a:r>
          </a:p>
          <a:p>
            <a:r>
              <a:rPr lang="th-TH" dirty="0"/>
              <a:t>นอกจากนี้ ยังช่วยส่งเสริมการใช้เกมอย่างสร้างสรรค์ และเป็นต้นแบบของสื่อการเรียนรู้รูปแบบใหม่ที่สามารถนำไปต่อยอดหรือประยุกต์ใช้กับรายวิชาอื่น ๆ ในอนาคตได้ครับ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140616-5FCA-4B4A-80DF-C1D05424B796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69767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en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 userDrawn="1"/>
        </p:nvSpPr>
        <p:spPr>
          <a:xfrm>
            <a:off x="-95534" y="5527343"/>
            <a:ext cx="12287534" cy="1330657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6" name="Group 5"/>
          <p:cNvGrpSpPr/>
          <p:nvPr userDrawn="1"/>
        </p:nvGrpSpPr>
        <p:grpSpPr>
          <a:xfrm>
            <a:off x="0" y="1433014"/>
            <a:ext cx="1596788" cy="436729"/>
            <a:chOff x="0" y="1433014"/>
            <a:chExt cx="1596788" cy="436729"/>
          </a:xfrm>
        </p:grpSpPr>
        <p:sp>
          <p:nvSpPr>
            <p:cNvPr id="3" name="Rectangle 2"/>
            <p:cNvSpPr/>
            <p:nvPr userDrawn="1"/>
          </p:nvSpPr>
          <p:spPr>
            <a:xfrm>
              <a:off x="0" y="1460310"/>
              <a:ext cx="914400" cy="327547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" name="Oval 4"/>
            <p:cNvSpPr/>
            <p:nvPr userDrawn="1"/>
          </p:nvSpPr>
          <p:spPr>
            <a:xfrm>
              <a:off x="1160059" y="1433014"/>
              <a:ext cx="436729" cy="436729"/>
            </a:xfrm>
            <a:prstGeom prst="ellipse">
              <a:avLst/>
            </a:prstGeom>
            <a:solidFill>
              <a:srgbClr val="52B3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3243" y="5890040"/>
            <a:ext cx="1889764" cy="585217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6575" y="365983"/>
            <a:ext cx="571843" cy="889533"/>
          </a:xfrm>
          <a:prstGeom prst="rect">
            <a:avLst/>
          </a:prstGeom>
        </p:spPr>
      </p:pic>
      <p:sp>
        <p:nvSpPr>
          <p:cNvPr id="16" name="Text Placeholder 15"/>
          <p:cNvSpPr>
            <a:spLocks noGrp="1"/>
          </p:cNvSpPr>
          <p:nvPr>
            <p:ph type="body" sz="quarter" idx="10" hasCustomPrompt="1"/>
          </p:nvPr>
        </p:nvSpPr>
        <p:spPr>
          <a:xfrm>
            <a:off x="1091821" y="2174779"/>
            <a:ext cx="6769289" cy="64164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200"/>
            </a:lvl1pPr>
          </a:lstStyle>
          <a:p>
            <a:r>
              <a:rPr lang="en-US" sz="4200" dirty="0"/>
              <a:t>Click to add</a:t>
            </a:r>
            <a:r>
              <a:rPr lang="en-US" sz="4200" baseline="0" dirty="0"/>
              <a:t> Title</a:t>
            </a:r>
            <a:endParaRPr lang="en-GB" sz="4200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1" hasCustomPrompt="1"/>
          </p:nvPr>
        </p:nvSpPr>
        <p:spPr>
          <a:xfrm>
            <a:off x="1091821" y="2857364"/>
            <a:ext cx="6768759" cy="736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sz="2800" dirty="0"/>
              <a:t>Click to add</a:t>
            </a:r>
            <a:r>
              <a:rPr lang="en-US" sz="2800" baseline="0" dirty="0"/>
              <a:t> Title</a:t>
            </a:r>
            <a:endParaRPr lang="en-GB" sz="2800" dirty="0"/>
          </a:p>
        </p:txBody>
      </p:sp>
      <p:sp>
        <p:nvSpPr>
          <p:cNvPr id="23" name="Text Placeholder 22"/>
          <p:cNvSpPr>
            <a:spLocks noGrp="1"/>
          </p:cNvSpPr>
          <p:nvPr>
            <p:ph type="body" sz="quarter" idx="12" hasCustomPrompt="1"/>
          </p:nvPr>
        </p:nvSpPr>
        <p:spPr>
          <a:xfrm>
            <a:off x="1050880" y="6186393"/>
            <a:ext cx="3916905" cy="2888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rgbClr val="525252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r>
              <a:rPr lang="en-US" sz="1800" dirty="0">
                <a:solidFill>
                  <a:srgbClr val="525252"/>
                </a:solidFill>
                <a:latin typeface="PSU Stidti Light" panose="02000000000000000000" pitchFamily="50" charset="-34"/>
                <a:cs typeface="PSU Stidti Light" panose="02000000000000000000" pitchFamily="50" charset="-34"/>
              </a:rPr>
              <a:t>Click to add</a:t>
            </a:r>
            <a:r>
              <a:rPr lang="en-US" sz="1800" baseline="0" dirty="0">
                <a:solidFill>
                  <a:srgbClr val="525252"/>
                </a:solidFill>
                <a:latin typeface="PSU Stidti Light" panose="02000000000000000000" pitchFamily="50" charset="-34"/>
                <a:cs typeface="PSU Stidti Light" panose="02000000000000000000" pitchFamily="50" charset="-34"/>
              </a:rPr>
              <a:t> Presentation Date</a:t>
            </a:r>
            <a:endParaRPr lang="en-GB" sz="1800" dirty="0">
              <a:solidFill>
                <a:srgbClr val="525252"/>
              </a:solidFill>
              <a:latin typeface="PSU Stidti Light" panose="02000000000000000000" pitchFamily="50" charset="-34"/>
              <a:cs typeface="PSU Stidti Light" panose="02000000000000000000" pitchFamily="50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2694020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7416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"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025289" y="1984885"/>
            <a:ext cx="7026889" cy="69007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400">
                <a:solidFill>
                  <a:srgbClr val="525252"/>
                </a:solidFill>
              </a:defRPr>
            </a:lvl1pPr>
          </a:lstStyle>
          <a:p>
            <a:r>
              <a:rPr lang="en-US" dirty="0"/>
              <a:t>Agenda Title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5289" y="2735322"/>
            <a:ext cx="7026889" cy="263719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25252"/>
                </a:solidFill>
              </a:defRPr>
            </a:lvl1pPr>
            <a:lvl2pPr>
              <a:defRPr>
                <a:solidFill>
                  <a:srgbClr val="525252"/>
                </a:solidFill>
              </a:defRPr>
            </a:lvl2pPr>
            <a:lvl3pPr>
              <a:defRPr>
                <a:solidFill>
                  <a:srgbClr val="525252"/>
                </a:solidFill>
              </a:defRPr>
            </a:lvl3pPr>
            <a:lvl4pPr>
              <a:defRPr>
                <a:solidFill>
                  <a:srgbClr val="525252"/>
                </a:solidFill>
              </a:defRPr>
            </a:lvl4pPr>
            <a:lvl5pPr>
              <a:defRPr>
                <a:solidFill>
                  <a:srgbClr val="525252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grpSp>
        <p:nvGrpSpPr>
          <p:cNvPr id="7" name="Group 6"/>
          <p:cNvGrpSpPr/>
          <p:nvPr userDrawn="1"/>
        </p:nvGrpSpPr>
        <p:grpSpPr>
          <a:xfrm>
            <a:off x="0" y="1433014"/>
            <a:ext cx="1596788" cy="436729"/>
            <a:chOff x="0" y="1433014"/>
            <a:chExt cx="1596788" cy="436729"/>
          </a:xfrm>
        </p:grpSpPr>
        <p:sp>
          <p:nvSpPr>
            <p:cNvPr id="8" name="Rectangle 7"/>
            <p:cNvSpPr/>
            <p:nvPr userDrawn="1"/>
          </p:nvSpPr>
          <p:spPr>
            <a:xfrm>
              <a:off x="0" y="1460310"/>
              <a:ext cx="914400" cy="327547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Oval 8"/>
            <p:cNvSpPr/>
            <p:nvPr userDrawn="1"/>
          </p:nvSpPr>
          <p:spPr>
            <a:xfrm>
              <a:off x="1160059" y="1433014"/>
              <a:ext cx="436729" cy="436729"/>
            </a:xfrm>
            <a:prstGeom prst="ellipse">
              <a:avLst/>
            </a:prstGeom>
            <a:solidFill>
              <a:srgbClr val="52B3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pic>
        <p:nvPicPr>
          <p:cNvPr id="11" name="Picture 10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1815" b="-3601"/>
          <a:stretch/>
        </p:blipFill>
        <p:spPr>
          <a:xfrm>
            <a:off x="11038806" y="6155139"/>
            <a:ext cx="785592" cy="433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7825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 userDrawn="1"/>
        </p:nvGrpSpPr>
        <p:grpSpPr>
          <a:xfrm>
            <a:off x="0" y="1433014"/>
            <a:ext cx="1596788" cy="436729"/>
            <a:chOff x="0" y="1433014"/>
            <a:chExt cx="1596788" cy="436729"/>
          </a:xfrm>
        </p:grpSpPr>
        <p:sp>
          <p:nvSpPr>
            <p:cNvPr id="10" name="Rectangle 9"/>
            <p:cNvSpPr/>
            <p:nvPr userDrawn="1"/>
          </p:nvSpPr>
          <p:spPr>
            <a:xfrm>
              <a:off x="0" y="1460310"/>
              <a:ext cx="914400" cy="327547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Oval 10"/>
            <p:cNvSpPr/>
            <p:nvPr userDrawn="1"/>
          </p:nvSpPr>
          <p:spPr>
            <a:xfrm>
              <a:off x="1160059" y="1433014"/>
              <a:ext cx="436729" cy="436729"/>
            </a:xfrm>
            <a:prstGeom prst="ellipse">
              <a:avLst/>
            </a:prstGeom>
            <a:solidFill>
              <a:srgbClr val="52B3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3" name="Text Placeholder 15"/>
          <p:cNvSpPr>
            <a:spLocks noGrp="1"/>
          </p:cNvSpPr>
          <p:nvPr>
            <p:ph type="body" sz="quarter" idx="13" hasCustomPrompt="1"/>
          </p:nvPr>
        </p:nvSpPr>
        <p:spPr>
          <a:xfrm>
            <a:off x="1091821" y="2174779"/>
            <a:ext cx="6782937" cy="64164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200"/>
            </a:lvl1pPr>
          </a:lstStyle>
          <a:p>
            <a:r>
              <a:rPr lang="en-US" sz="4200" dirty="0"/>
              <a:t>Click to add</a:t>
            </a:r>
            <a:r>
              <a:rPr lang="en-US" sz="4200" baseline="0" dirty="0"/>
              <a:t> Title</a:t>
            </a:r>
            <a:endParaRPr lang="en-GB" sz="4200" dirty="0"/>
          </a:p>
        </p:txBody>
      </p:sp>
      <p:sp>
        <p:nvSpPr>
          <p:cNvPr id="14" name="Text Placeholder 20"/>
          <p:cNvSpPr>
            <a:spLocks noGrp="1"/>
          </p:cNvSpPr>
          <p:nvPr>
            <p:ph type="body" sz="quarter" idx="14" hasCustomPrompt="1"/>
          </p:nvPr>
        </p:nvSpPr>
        <p:spPr>
          <a:xfrm>
            <a:off x="1091821" y="2857364"/>
            <a:ext cx="6782406" cy="736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sz="2800" dirty="0"/>
              <a:t>Click to add</a:t>
            </a:r>
            <a:r>
              <a:rPr lang="en-US" sz="2800" baseline="0" dirty="0"/>
              <a:t> Title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35065547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ntent Slide 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-52500" y="-15045"/>
            <a:ext cx="12287534" cy="1733266"/>
          </a:xfrm>
          <a:prstGeom prst="rect">
            <a:avLst/>
          </a:prstGeom>
          <a:solidFill>
            <a:srgbClr val="1D3B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733" y="-15045"/>
            <a:ext cx="12192000" cy="170212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61264" y="378774"/>
            <a:ext cx="6040271" cy="753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0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86813" y="6472331"/>
            <a:ext cx="1300316" cy="231963"/>
          </a:xfrm>
          <a:prstGeom prst="rect">
            <a:avLst/>
          </a:prstGeom>
        </p:spPr>
        <p:txBody>
          <a:bodyPr/>
          <a:lstStyle>
            <a:lvl1pPr algn="ctr">
              <a:defRPr sz="1400"/>
            </a:lvl1pPr>
          </a:lstStyle>
          <a:p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821064" y="6472331"/>
            <a:ext cx="5806672" cy="264943"/>
          </a:xfrm>
          <a:prstGeom prst="rect">
            <a:avLst/>
          </a:prstGeom>
        </p:spPr>
        <p:txBody>
          <a:bodyPr/>
          <a:lstStyle>
            <a:lvl1pPr algn="ctr">
              <a:defRPr sz="14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431602" y="31189"/>
            <a:ext cx="632579" cy="347585"/>
          </a:xfrm>
          <a:prstGeom prst="rect">
            <a:avLst/>
          </a:prstGeom>
        </p:spPr>
        <p:txBody>
          <a:bodyPr/>
          <a:lstStyle>
            <a:lvl1pPr algn="r">
              <a:defRPr sz="1400">
                <a:solidFill>
                  <a:schemeClr val="bg2"/>
                </a:solidFill>
              </a:defRPr>
            </a:lvl1pPr>
          </a:lstStyle>
          <a:p>
            <a:fld id="{CDBB8228-9F33-435A-BC7F-139DFAFA452A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1815" b="-3601"/>
          <a:stretch/>
        </p:blipFill>
        <p:spPr>
          <a:xfrm>
            <a:off x="11038806" y="6155139"/>
            <a:ext cx="785592" cy="433174"/>
          </a:xfrm>
          <a:prstGeom prst="rect">
            <a:avLst/>
          </a:prstGeom>
        </p:spPr>
      </p:pic>
      <p:sp>
        <p:nvSpPr>
          <p:cNvPr id="13" name="Text Placeholder 12"/>
          <p:cNvSpPr>
            <a:spLocks noGrp="1"/>
          </p:cNvSpPr>
          <p:nvPr>
            <p:ph type="body" sz="quarter" idx="13"/>
          </p:nvPr>
        </p:nvSpPr>
        <p:spPr>
          <a:xfrm>
            <a:off x="561264" y="2116138"/>
            <a:ext cx="10477542" cy="36163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60669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ntent Slide Grey"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-52500" y="-15045"/>
            <a:ext cx="12287534" cy="1733266"/>
          </a:xfrm>
          <a:prstGeom prst="rect">
            <a:avLst/>
          </a:prstGeom>
          <a:solidFill>
            <a:srgbClr val="1D3B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733" y="-15045"/>
            <a:ext cx="12192000" cy="170212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61264" y="378774"/>
            <a:ext cx="6040271" cy="753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0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1815" b="-3601"/>
          <a:stretch/>
        </p:blipFill>
        <p:spPr>
          <a:xfrm>
            <a:off x="11038806" y="6155139"/>
            <a:ext cx="785592" cy="433174"/>
          </a:xfrm>
          <a:prstGeom prst="rect">
            <a:avLst/>
          </a:prstGeom>
        </p:spPr>
      </p:pic>
      <p:sp>
        <p:nvSpPr>
          <p:cNvPr id="10" name="Date Placeholder 2"/>
          <p:cNvSpPr>
            <a:spLocks noGrp="1"/>
          </p:cNvSpPr>
          <p:nvPr>
            <p:ph type="dt" sz="half" idx="10"/>
          </p:nvPr>
        </p:nvSpPr>
        <p:spPr>
          <a:xfrm>
            <a:off x="186813" y="6472331"/>
            <a:ext cx="1300316" cy="231963"/>
          </a:xfrm>
          <a:prstGeom prst="rect">
            <a:avLst/>
          </a:prstGeom>
        </p:spPr>
        <p:txBody>
          <a:bodyPr/>
          <a:lstStyle>
            <a:lvl1pPr algn="ctr">
              <a:defRPr sz="1400"/>
            </a:lvl1pPr>
          </a:lstStyle>
          <a:p>
            <a:endParaRPr lang="en-GB"/>
          </a:p>
        </p:txBody>
      </p:sp>
      <p:sp>
        <p:nvSpPr>
          <p:cNvPr id="11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821064" y="6472331"/>
            <a:ext cx="5806672" cy="264943"/>
          </a:xfrm>
          <a:prstGeom prst="rect">
            <a:avLst/>
          </a:prstGeom>
        </p:spPr>
        <p:txBody>
          <a:bodyPr/>
          <a:lstStyle>
            <a:lvl1pPr algn="ctr">
              <a:defRPr sz="1400"/>
            </a:lvl1pPr>
          </a:lstStyle>
          <a:p>
            <a:endParaRPr lang="en-GB"/>
          </a:p>
        </p:txBody>
      </p:sp>
      <p:sp>
        <p:nvSpPr>
          <p:cNvPr id="12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431602" y="31189"/>
            <a:ext cx="632579" cy="347585"/>
          </a:xfrm>
          <a:prstGeom prst="rect">
            <a:avLst/>
          </a:prstGeom>
        </p:spPr>
        <p:txBody>
          <a:bodyPr/>
          <a:lstStyle>
            <a:lvl1pPr algn="r">
              <a:defRPr sz="1400">
                <a:solidFill>
                  <a:schemeClr val="bg2"/>
                </a:solidFill>
              </a:defRPr>
            </a:lvl1pPr>
          </a:lstStyle>
          <a:p>
            <a:fld id="{CDBB8228-9F33-435A-BC7F-139DFAFA452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561264" y="2129051"/>
            <a:ext cx="10478211" cy="36303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269799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1815" b="-3601"/>
          <a:stretch/>
        </p:blipFill>
        <p:spPr>
          <a:xfrm>
            <a:off x="11038806" y="6155139"/>
            <a:ext cx="785592" cy="433174"/>
          </a:xfrm>
          <a:prstGeom prst="rect">
            <a:avLst/>
          </a:prstGeom>
        </p:spPr>
      </p:pic>
      <p:sp>
        <p:nvSpPr>
          <p:cNvPr id="6" name="Date Placeholder 2"/>
          <p:cNvSpPr>
            <a:spLocks noGrp="1"/>
          </p:cNvSpPr>
          <p:nvPr>
            <p:ph type="dt" sz="half" idx="10"/>
          </p:nvPr>
        </p:nvSpPr>
        <p:spPr>
          <a:xfrm>
            <a:off x="186813" y="6472331"/>
            <a:ext cx="1300316" cy="231963"/>
          </a:xfrm>
          <a:prstGeom prst="rect">
            <a:avLst/>
          </a:prstGeom>
        </p:spPr>
        <p:txBody>
          <a:bodyPr/>
          <a:lstStyle>
            <a:lvl1pPr algn="ctr">
              <a:defRPr sz="1400">
                <a:solidFill>
                  <a:srgbClr val="1D3B6D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821064" y="6472331"/>
            <a:ext cx="5806672" cy="264943"/>
          </a:xfrm>
          <a:prstGeom prst="rect">
            <a:avLst/>
          </a:prstGeom>
        </p:spPr>
        <p:txBody>
          <a:bodyPr/>
          <a:lstStyle>
            <a:lvl1pPr algn="ctr">
              <a:defRPr sz="1400">
                <a:solidFill>
                  <a:srgbClr val="1D3B6D"/>
                </a:solidFill>
              </a:defRPr>
            </a:lvl1pPr>
          </a:lstStyle>
          <a:p>
            <a:endParaRPr lang="en-GB"/>
          </a:p>
        </p:txBody>
      </p:sp>
      <p:sp>
        <p:nvSpPr>
          <p:cNvPr id="8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431602" y="31189"/>
            <a:ext cx="632579" cy="347585"/>
          </a:xfrm>
          <a:prstGeom prst="rect">
            <a:avLst/>
          </a:prstGeom>
        </p:spPr>
        <p:txBody>
          <a:bodyPr/>
          <a:lstStyle>
            <a:lvl1pPr algn="r">
              <a:defRPr sz="1400">
                <a:solidFill>
                  <a:srgbClr val="1D3B6D"/>
                </a:solidFill>
              </a:defRPr>
            </a:lvl1pPr>
          </a:lstStyle>
          <a:p>
            <a:fld id="{CDBB8228-9F33-435A-BC7F-139DFAFA452A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417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 White Log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2456" b="857"/>
          <a:stretch/>
        </p:blipFill>
        <p:spPr>
          <a:xfrm>
            <a:off x="11038806" y="6146776"/>
            <a:ext cx="785592" cy="419148"/>
          </a:xfrm>
          <a:prstGeom prst="rect">
            <a:avLst/>
          </a:prstGeom>
        </p:spPr>
      </p:pic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>
          <a:xfrm>
            <a:off x="186813" y="6472331"/>
            <a:ext cx="1300316" cy="231963"/>
          </a:xfrm>
          <a:prstGeom prst="rect">
            <a:avLst/>
          </a:prstGeom>
        </p:spPr>
        <p:txBody>
          <a:bodyPr/>
          <a:lstStyle>
            <a:lvl1pPr algn="ctr">
              <a:defRPr sz="1400"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821064" y="6472331"/>
            <a:ext cx="5806672" cy="264943"/>
          </a:xfrm>
          <a:prstGeom prst="rect">
            <a:avLst/>
          </a:prstGeom>
        </p:spPr>
        <p:txBody>
          <a:bodyPr/>
          <a:lstStyle>
            <a:lvl1pPr algn="ctr">
              <a:defRPr sz="1400"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9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431602" y="31189"/>
            <a:ext cx="632579" cy="347585"/>
          </a:xfrm>
          <a:prstGeom prst="rect">
            <a:avLst/>
          </a:prstGeom>
        </p:spPr>
        <p:txBody>
          <a:bodyPr/>
          <a:lstStyle>
            <a:lvl1pPr algn="r">
              <a:defRPr sz="1400">
                <a:solidFill>
                  <a:schemeClr val="tx2"/>
                </a:solidFill>
              </a:defRPr>
            </a:lvl1pPr>
          </a:lstStyle>
          <a:p>
            <a:fld id="{CDBB8228-9F33-435A-BC7F-139DFAFA452A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96010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3" y="0"/>
            <a:ext cx="12182534" cy="68580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2407" y="3033152"/>
            <a:ext cx="2587949" cy="80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5878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02276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4"/>
    <p:sldLayoutId id="2147483660" r:id="rId5"/>
    <p:sldLayoutId id="2147483655" r:id="rId6"/>
    <p:sldLayoutId id="2147483661" r:id="rId7"/>
    <p:sldLayoutId id="2147483659" r:id="rId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.png"/><Relationship Id="rId4" Type="http://schemas.openxmlformats.org/officeDocument/2006/relationships/image" Target="../media/image9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1091821" y="1925991"/>
            <a:ext cx="9880979" cy="641641"/>
          </a:xfrm>
        </p:spPr>
        <p:txBody>
          <a:bodyPr/>
          <a:lstStyle/>
          <a:p>
            <a:r>
              <a:rPr lang="th-TH" sz="48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เกมเพื่อการเรียนรู้ภาษาอังกฤษ</a:t>
            </a:r>
            <a:endParaRPr lang="en-GB" sz="48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1"/>
          </p:nvPr>
        </p:nvSpPr>
        <p:spPr>
          <a:xfrm>
            <a:off x="1091821" y="2567632"/>
            <a:ext cx="9880205" cy="736600"/>
          </a:xfrm>
        </p:spPr>
        <p:txBody>
          <a:bodyPr/>
          <a:lstStyle/>
          <a:p>
            <a:r>
              <a:rPr lang="en-GB" sz="36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Games for learning English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2"/>
          </p:nvPr>
        </p:nvSpPr>
        <p:spPr>
          <a:xfrm>
            <a:off x="694536" y="6186393"/>
            <a:ext cx="3916905" cy="288864"/>
          </a:xfrm>
        </p:spPr>
        <p:txBody>
          <a:bodyPr/>
          <a:lstStyle/>
          <a:p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วันที่นำเสนอ 21 มกราคม พ.ศ. 2569</a:t>
            </a:r>
            <a:endParaRPr lang="en-GB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B6F819-740A-889F-0D86-FD9A3EA2F5CD}"/>
              </a:ext>
            </a:extLst>
          </p:cNvPr>
          <p:cNvSpPr txBox="1"/>
          <p:nvPr/>
        </p:nvSpPr>
        <p:spPr>
          <a:xfrm>
            <a:off x="1091821" y="3327753"/>
            <a:ext cx="31223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ผู้เสนอโครงงาน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709714-AB1C-D554-2CA6-4651F5A9A197}"/>
              </a:ext>
            </a:extLst>
          </p:cNvPr>
          <p:cNvSpPr txBox="1"/>
          <p:nvPr/>
        </p:nvSpPr>
        <p:spPr>
          <a:xfrm>
            <a:off x="1091821" y="3705174"/>
            <a:ext cx="70768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นาย ศรัณย์กร ชัยสุนทรานนท์ รหัสนักศึกษา 6610110289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5F840AA-3B29-4C0C-D10E-E9B41F5BADF0}"/>
              </a:ext>
            </a:extLst>
          </p:cNvPr>
          <p:cNvSpPr txBox="1"/>
          <p:nvPr/>
        </p:nvSpPr>
        <p:spPr>
          <a:xfrm>
            <a:off x="7507861" y="3312321"/>
            <a:ext cx="29904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อาจารย์ที่ปรึกษา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4EF2320-5B36-349B-E89D-3AF717977102}"/>
              </a:ext>
            </a:extLst>
          </p:cNvPr>
          <p:cNvSpPr txBox="1"/>
          <p:nvPr/>
        </p:nvSpPr>
        <p:spPr>
          <a:xfrm>
            <a:off x="7507861" y="3695021"/>
            <a:ext cx="329241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ดร. อนันท์ ชก</a:t>
            </a:r>
            <a:r>
              <a:rPr lang="th-TH" sz="2400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สุริ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วง</a:t>
            </a:r>
            <a:r>
              <a:rPr lang="th-TH" sz="2400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ค์</a:t>
            </a:r>
            <a:endParaRPr lang="th-TH" sz="24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B260A2B-498C-8F9E-83C2-9E902EC6651A}"/>
              </a:ext>
            </a:extLst>
          </p:cNvPr>
          <p:cNvSpPr txBox="1"/>
          <p:nvPr/>
        </p:nvSpPr>
        <p:spPr>
          <a:xfrm>
            <a:off x="480060" y="382743"/>
            <a:ext cx="68732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ความก้าวหน้ากลางภาคของโครงงาน</a:t>
            </a:r>
          </a:p>
          <a:p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รายวิชา 240-308 ประจำภาคเรียนที่ 2/2568</a:t>
            </a:r>
          </a:p>
        </p:txBody>
      </p:sp>
    </p:spTree>
    <p:extLst>
      <p:ext uri="{BB962C8B-B14F-4D97-AF65-F5344CB8AC3E}">
        <p14:creationId xmlns:p14="http://schemas.microsoft.com/office/powerpoint/2010/main" val="36129342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2909324" y="405506"/>
            <a:ext cx="6040271" cy="753991"/>
          </a:xfrm>
        </p:spPr>
        <p:txBody>
          <a:bodyPr>
            <a:noAutofit/>
          </a:bodyPr>
          <a:lstStyle/>
          <a:p>
            <a:pPr algn="ctr"/>
            <a:r>
              <a:rPr lang="th-TH" sz="6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ความสำคัญและที่มา</a:t>
            </a:r>
            <a:endParaRPr lang="en-US" sz="60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E39101-BD2C-8195-F704-D5271DD40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B8228-9F33-435A-BC7F-139DFAFA452A}" type="slidenum">
              <a:rPr lang="en-GB" sz="2000" smtClean="0"/>
              <a:pPr/>
              <a:t>2</a:t>
            </a:fld>
            <a:endParaRPr lang="en-GB" dirty="0"/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7931BF20-27A6-73BD-1FEF-B823303774DF}"/>
              </a:ext>
            </a:extLst>
          </p:cNvPr>
          <p:cNvSpPr txBox="1">
            <a:spLocks/>
          </p:cNvSpPr>
          <p:nvPr/>
        </p:nvSpPr>
        <p:spPr>
          <a:xfrm>
            <a:off x="1027090" y="2680336"/>
            <a:ext cx="4140133" cy="286679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t">
              <a:lnSpc>
                <a:spcPts val="1500"/>
              </a:lnSpc>
              <a:spcAft>
                <a:spcPts val="500"/>
              </a:spcAft>
            </a:pP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ภาษาอังกฤษจำเป็นในยุคปัจจุบัน </a:t>
            </a:r>
          </a:p>
          <a:p>
            <a:pPr fontAlgn="t">
              <a:lnSpc>
                <a:spcPts val="1500"/>
              </a:lnSpc>
              <a:spcAft>
                <a:spcPts val="500"/>
              </a:spcAft>
            </a:pP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เด็กไทยขาดความมั่นใจในการใช้ภาษา</a:t>
            </a:r>
          </a:p>
          <a:p>
            <a:pPr fontAlgn="t">
              <a:lnSpc>
                <a:spcPts val="1500"/>
              </a:lnSpc>
              <a:spcAft>
                <a:spcPts val="500"/>
              </a:spcAft>
            </a:pP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การเรียนในห้องเรียนไม่มีประสิทธิภาพ </a:t>
            </a:r>
          </a:p>
          <a:p>
            <a:pPr fontAlgn="t">
              <a:lnSpc>
                <a:spcPts val="1500"/>
              </a:lnSpc>
              <a:spcAft>
                <a:spcPts val="500"/>
              </a:spcAft>
            </a:pP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เกมออนไลน์เป็นที่นิยมในเยาวชน </a:t>
            </a:r>
          </a:p>
          <a:p>
            <a:pPr fontAlgn="t">
              <a:lnSpc>
                <a:spcPts val="1500"/>
              </a:lnSpc>
              <a:spcAft>
                <a:spcPts val="500"/>
              </a:spcAft>
            </a:pPr>
            <a:r>
              <a:rPr lang="en-GB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Game-based Learning </a:t>
            </a:r>
            <a:endParaRPr lang="th-TH" sz="24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pPr fontAlgn="t">
              <a:lnSpc>
                <a:spcPts val="1500"/>
              </a:lnSpc>
              <a:spcAft>
                <a:spcPts val="500"/>
              </a:spcAft>
            </a:pP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ใช้แพลตฟอร์ม </a:t>
            </a:r>
            <a:r>
              <a:rPr lang="en-GB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Roblox </a:t>
            </a:r>
            <a:endParaRPr lang="th-TH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pPr fontAlgn="t">
              <a:lnSpc>
                <a:spcPts val="1500"/>
              </a:lnSpc>
              <a:spcAft>
                <a:spcPts val="500"/>
              </a:spcAft>
            </a:pP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เปลี่ยนเกมเป็นเครื่องมือการเรียนรู้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F941E07-4ACF-2F69-DF53-450B514D70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6124" y="1899613"/>
            <a:ext cx="6648057" cy="3798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97644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13673-3742-A121-37B7-4DD22B280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AA8431CB-A34D-9FB4-04F8-3A106AB3E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5864" y="521068"/>
            <a:ext cx="6040271" cy="753991"/>
          </a:xfrm>
        </p:spPr>
        <p:txBody>
          <a:bodyPr>
            <a:normAutofit fontScale="90000"/>
          </a:bodyPr>
          <a:lstStyle/>
          <a:p>
            <a:pPr algn="ctr"/>
            <a:r>
              <a:rPr lang="th-TH" sz="67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วัตถุประสงค์</a:t>
            </a:r>
            <a:endParaRPr lang="en-US" sz="4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55B2F48-D93D-0C5A-B523-431C5574F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B8228-9F33-435A-BC7F-139DFAFA452A}" type="slidenum">
              <a:rPr lang="en-GB" sz="2000" smtClean="0"/>
              <a:pPr/>
              <a:t>3</a:t>
            </a:fld>
            <a:endParaRPr lang="en-GB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67D6C2A-BE14-CFC6-8F7E-A086F9E6D0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190" y="2398465"/>
            <a:ext cx="1796620" cy="17966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E0E3ACD-7DD2-511D-588C-C884B9A7BF28}"/>
              </a:ext>
            </a:extLst>
          </p:cNvPr>
          <p:cNvSpPr txBox="1"/>
          <p:nvPr/>
        </p:nvSpPr>
        <p:spPr>
          <a:xfrm>
            <a:off x="694580" y="4509905"/>
            <a:ext cx="2448081" cy="523220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th-TH" sz="28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พัฒนาเกมบน </a:t>
            </a:r>
            <a:r>
              <a:rPr lang="en-GB" sz="28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Roblox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B1AC0F1-C990-DBA2-F32A-1B1DE3EB3EDF}"/>
              </a:ext>
            </a:extLst>
          </p:cNvPr>
          <p:cNvSpPr txBox="1"/>
          <p:nvPr/>
        </p:nvSpPr>
        <p:spPr>
          <a:xfrm>
            <a:off x="4126909" y="4508889"/>
            <a:ext cx="3282574" cy="954107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th-TH" sz="28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ส่งเสริมทักษะภาษาอังกฤษ</a:t>
            </a:r>
            <a:br>
              <a:rPr lang="th-TH" sz="2800" dirty="0">
                <a:latin typeface="TH Sarabun New" panose="020B0500040200020003" pitchFamily="34" charset="-34"/>
                <a:cs typeface="TH Sarabun New" panose="020B0500040200020003" pitchFamily="34" charset="-34"/>
              </a:rPr>
            </a:br>
            <a:r>
              <a:rPr lang="en-GB" sz="28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Reading </a:t>
            </a:r>
            <a:r>
              <a:rPr lang="en-US" sz="28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/ </a:t>
            </a:r>
            <a:r>
              <a:rPr lang="en-GB" sz="28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Listening / Writing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26CB3E5-8DF9-F33C-765F-C20442E57F0D}"/>
              </a:ext>
            </a:extLst>
          </p:cNvPr>
          <p:cNvSpPr txBox="1"/>
          <p:nvPr/>
        </p:nvSpPr>
        <p:spPr>
          <a:xfrm>
            <a:off x="8633755" y="4509905"/>
            <a:ext cx="2786332" cy="523220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th-TH" sz="28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เพิ่มความมั่นใจด้านภาษา</a:t>
            </a:r>
          </a:p>
        </p:txBody>
      </p:sp>
      <p:pic>
        <p:nvPicPr>
          <p:cNvPr id="1030" name="Picture 6" descr="Listening Speaking Reading Writing Stock Illustrations – 291 Listening  Speaking Reading Writing Stock Illustrations, Vectors &amp; Clipart - Dreamstime">
            <a:extLst>
              <a:ext uri="{FF2B5EF4-FFF2-40B4-BE49-F238E27FC236}">
                <a16:creationId xmlns:a16="http://schemas.microsoft.com/office/drawing/2014/main" id="{F1921224-477B-DE05-CB9C-F007FC30A3C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14" t="54485" r="29200" b="22035"/>
          <a:stretch>
            <a:fillRect/>
          </a:stretch>
        </p:blipFill>
        <p:spPr bwMode="auto">
          <a:xfrm>
            <a:off x="3631962" y="2662733"/>
            <a:ext cx="4272465" cy="1268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A0E8795-7E55-727D-B41C-D27E9B70901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67" r="8701" b="11859"/>
          <a:stretch>
            <a:fillRect/>
          </a:stretch>
        </p:blipFill>
        <p:spPr>
          <a:xfrm>
            <a:off x="8537615" y="2398465"/>
            <a:ext cx="3011867" cy="2009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2109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B85B86-95C5-561E-40CC-0B5C54793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12D2FECA-16A1-C859-327D-9C807A2EE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5864" y="460470"/>
            <a:ext cx="6040271" cy="753991"/>
          </a:xfrm>
        </p:spPr>
        <p:txBody>
          <a:bodyPr>
            <a:noAutofit/>
          </a:bodyPr>
          <a:lstStyle/>
          <a:p>
            <a:pPr algn="ctr"/>
            <a:r>
              <a:rPr lang="th-TH" sz="6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ขอบเขตของโครงงาน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DF6202-AE8A-5C6C-5AF1-9E4FB91AD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B8228-9F33-435A-BC7F-139DFAFA452A}" type="slidenum">
              <a:rPr lang="en-GB" sz="2000" smtClean="0"/>
              <a:pPr/>
              <a:t>4</a:t>
            </a:fld>
            <a:endParaRPr lang="en-GB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082BE46-2945-06C4-9111-CFB69FF0B496}"/>
              </a:ext>
            </a:extLst>
          </p:cNvPr>
          <p:cNvSpPr txBox="1"/>
          <p:nvPr/>
        </p:nvSpPr>
        <p:spPr>
          <a:xfrm>
            <a:off x="4150610" y="2830120"/>
            <a:ext cx="3890767" cy="954107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th-TH" sz="28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เนื้อหาภาษาอังกฤษ</a:t>
            </a:r>
          </a:p>
          <a:p>
            <a:pPr algn="ctr"/>
            <a:r>
              <a:rPr lang="th-TH" sz="28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บทสนทนาและคำศัพท์ในชีวิตประจำวัน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50490A4-D5BF-140A-80F5-997C9866455F}"/>
              </a:ext>
            </a:extLst>
          </p:cNvPr>
          <p:cNvSpPr txBox="1"/>
          <p:nvPr/>
        </p:nvSpPr>
        <p:spPr>
          <a:xfrm>
            <a:off x="4271757" y="4115003"/>
            <a:ext cx="3648475" cy="954107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th-TH" sz="28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เครื่องมือ: </a:t>
            </a:r>
            <a:r>
              <a:rPr lang="en-GB" sz="28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Roblox Studio </a:t>
            </a:r>
            <a:endParaRPr lang="th-TH" sz="28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pPr algn="ctr"/>
            <a:r>
              <a:rPr lang="th-TH" sz="28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และภาษา </a:t>
            </a:r>
            <a:r>
              <a:rPr lang="en-GB" sz="28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Luau (Lua)</a:t>
            </a:r>
            <a:endParaRPr lang="th-TH" sz="28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4254B3B-6956-45DC-B799-9D3D11C81920}"/>
              </a:ext>
            </a:extLst>
          </p:cNvPr>
          <p:cNvSpPr txBox="1"/>
          <p:nvPr/>
        </p:nvSpPr>
        <p:spPr>
          <a:xfrm>
            <a:off x="4582532" y="1976124"/>
            <a:ext cx="3026927" cy="523220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th-TH" sz="28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เด็กและเยาวชน อายุ 9–15 ปี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77AC73-81B0-860A-3D29-F8E317FF3497}"/>
              </a:ext>
            </a:extLst>
          </p:cNvPr>
          <p:cNvSpPr txBox="1"/>
          <p:nvPr/>
        </p:nvSpPr>
        <p:spPr>
          <a:xfrm>
            <a:off x="4582532" y="5399886"/>
            <a:ext cx="3026927" cy="523220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th-TH" sz="28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เล่นได้บน </a:t>
            </a:r>
            <a:r>
              <a:rPr lang="en-GB" sz="28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PC / Mobile</a:t>
            </a:r>
          </a:p>
        </p:txBody>
      </p:sp>
    </p:spTree>
    <p:extLst>
      <p:ext uri="{BB962C8B-B14F-4D97-AF65-F5344CB8AC3E}">
        <p14:creationId xmlns:p14="http://schemas.microsoft.com/office/powerpoint/2010/main" val="18550488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D852A3-250B-3F9F-587E-4760FA5F6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89F56F3-BBDF-5CFD-8731-E23C95C21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B8228-9F33-435A-BC7F-139DFAFA452A}" type="slidenum">
              <a:rPr lang="en-GB" sz="2000" smtClean="0"/>
              <a:pPr/>
              <a:t>5</a:t>
            </a:fld>
            <a:endParaRPr lang="en-GB" dirty="0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67279BDF-C631-840D-53AA-C2EBEB252DDF}"/>
              </a:ext>
            </a:extLst>
          </p:cNvPr>
          <p:cNvSpPr txBox="1">
            <a:spLocks/>
          </p:cNvSpPr>
          <p:nvPr/>
        </p:nvSpPr>
        <p:spPr>
          <a:xfrm>
            <a:off x="723495" y="1559845"/>
            <a:ext cx="8169781" cy="461972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425"/>
              </a:lnSpc>
              <a:spcAft>
                <a:spcPts val="300"/>
              </a:spcAft>
            </a:pPr>
            <a:r>
              <a:rPr lang="en-GB" dirty="0">
                <a:solidFill>
                  <a:schemeClr val="bg1">
                    <a:lumMod val="50000"/>
                  </a:schemeClr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Communicative Language Teaching</a:t>
            </a:r>
            <a:r>
              <a:rPr lang="th-TH" dirty="0">
                <a:solidFill>
                  <a:schemeClr val="bg1">
                    <a:lumMod val="50000"/>
                  </a:schemeClr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เน้นให้ผู้เรียนได้ใช้ภาษาในสถานการณ์จริง</a:t>
            </a:r>
          </a:p>
          <a:p>
            <a:pPr>
              <a:lnSpc>
                <a:spcPts val="1425"/>
              </a:lnSpc>
              <a:spcAft>
                <a:spcPts val="300"/>
              </a:spcAft>
              <a:buNone/>
            </a:pPr>
            <a:endParaRPr lang="th-TH" dirty="0">
              <a:solidFill>
                <a:schemeClr val="bg1">
                  <a:lumMod val="50000"/>
                </a:schemeClr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pPr>
              <a:lnSpc>
                <a:spcPts val="1425"/>
              </a:lnSpc>
              <a:spcAft>
                <a:spcPts val="300"/>
              </a:spcAft>
              <a:buNone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Reading </a:t>
            </a:r>
            <a:r>
              <a:rPr lang="th-TH" dirty="0">
                <a:solidFill>
                  <a:schemeClr val="bg1">
                    <a:lumMod val="50000"/>
                  </a:schemeClr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อ่านบทสนทนา</a:t>
            </a:r>
            <a:endParaRPr lang="en-US" dirty="0">
              <a:solidFill>
                <a:schemeClr val="bg1">
                  <a:lumMod val="50000"/>
                </a:schemeClr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pPr>
              <a:lnSpc>
                <a:spcPts val="1425"/>
              </a:lnSpc>
              <a:spcAft>
                <a:spcPts val="300"/>
              </a:spcAft>
              <a:buNone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Writing </a:t>
            </a:r>
            <a:r>
              <a:rPr lang="th-TH" dirty="0">
                <a:solidFill>
                  <a:schemeClr val="bg1">
                    <a:lumMod val="50000"/>
                  </a:schemeClr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การพิมพ์คำตอบกับตัวละครในเกม </a:t>
            </a:r>
            <a:endParaRPr lang="en-US" dirty="0">
              <a:solidFill>
                <a:schemeClr val="bg1">
                  <a:lumMod val="50000"/>
                </a:schemeClr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pPr>
              <a:lnSpc>
                <a:spcPts val="1425"/>
              </a:lnSpc>
              <a:spcAft>
                <a:spcPts val="300"/>
              </a:spcAft>
              <a:buNone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Listening </a:t>
            </a:r>
            <a:r>
              <a:rPr lang="th-TH" dirty="0">
                <a:solidFill>
                  <a:schemeClr val="bg1">
                    <a:lumMod val="50000"/>
                  </a:schemeClr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การใช้เสียงภาคประกอบ</a:t>
            </a:r>
            <a:endParaRPr lang="en-US" dirty="0">
              <a:solidFill>
                <a:schemeClr val="bg1">
                  <a:lumMod val="50000"/>
                </a:schemeClr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pPr>
              <a:lnSpc>
                <a:spcPts val="1425"/>
              </a:lnSpc>
              <a:spcAft>
                <a:spcPts val="300"/>
              </a:spcAft>
              <a:buNone/>
            </a:pPr>
            <a:endParaRPr lang="en-US" dirty="0">
              <a:solidFill>
                <a:schemeClr val="bg1">
                  <a:lumMod val="50000"/>
                </a:schemeClr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pPr>
              <a:lnSpc>
                <a:spcPts val="1425"/>
              </a:lnSpc>
              <a:spcAft>
                <a:spcPts val="300"/>
              </a:spcAft>
              <a:buNone/>
            </a:pPr>
            <a:endParaRPr lang="en-US" dirty="0">
              <a:solidFill>
                <a:schemeClr val="bg1">
                  <a:lumMod val="50000"/>
                </a:schemeClr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pPr>
              <a:lnSpc>
                <a:spcPts val="1425"/>
              </a:lnSpc>
              <a:spcAft>
                <a:spcPts val="300"/>
              </a:spcAft>
            </a:pPr>
            <a:r>
              <a:rPr lang="th-TH" dirty="0">
                <a:solidFill>
                  <a:schemeClr val="bg1">
                    <a:lumMod val="50000"/>
                  </a:schemeClr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การเรียนรู้โดยใช้เกมเป็นฐาน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Game-based Learning</a:t>
            </a:r>
          </a:p>
          <a:p>
            <a:pPr>
              <a:lnSpc>
                <a:spcPts val="1425"/>
              </a:lnSpc>
              <a:spcAft>
                <a:spcPts val="300"/>
              </a:spcAft>
            </a:pPr>
            <a:endParaRPr lang="en-US" dirty="0">
              <a:solidFill>
                <a:schemeClr val="bg1">
                  <a:lumMod val="50000"/>
                </a:schemeClr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pPr>
              <a:lnSpc>
                <a:spcPts val="1425"/>
              </a:lnSpc>
              <a:spcAft>
                <a:spcPts val="300"/>
              </a:spcAft>
              <a:buNone/>
            </a:pPr>
            <a:r>
              <a:rPr lang="th-TH" dirty="0">
                <a:solidFill>
                  <a:schemeClr val="bg1">
                    <a:lumMod val="50000"/>
                  </a:schemeClr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เรียนรู้ผ่านการเล่น ลงมือทำ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“</a:t>
            </a:r>
            <a:r>
              <a:rPr lang="th-TH" dirty="0">
                <a:solidFill>
                  <a:schemeClr val="bg1">
                    <a:lumMod val="50000"/>
                  </a:schemeClr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ภารกิจ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”</a:t>
            </a:r>
            <a:r>
              <a:rPr lang="th-TH" dirty="0">
                <a:solidFill>
                  <a:schemeClr val="bg1">
                    <a:lumMod val="50000"/>
                  </a:schemeClr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ในเกม</a:t>
            </a:r>
          </a:p>
          <a:p>
            <a:pPr>
              <a:lnSpc>
                <a:spcPts val="1425"/>
              </a:lnSpc>
              <a:spcAft>
                <a:spcPts val="300"/>
              </a:spcAft>
              <a:buNone/>
            </a:pPr>
            <a:endParaRPr lang="th-TH" dirty="0">
              <a:solidFill>
                <a:schemeClr val="bg1">
                  <a:lumMod val="50000"/>
                </a:schemeClr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pPr>
              <a:lnSpc>
                <a:spcPts val="1425"/>
              </a:lnSpc>
              <a:spcAft>
                <a:spcPts val="300"/>
              </a:spcAft>
              <a:buNone/>
            </a:pPr>
            <a:r>
              <a:rPr lang="th-TH" dirty="0">
                <a:solidFill>
                  <a:schemeClr val="bg1">
                    <a:lumMod val="50000"/>
                  </a:schemeClr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แบ่งความยากง่ายของภารกิจตามทักษะของผู้เล่น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5A12B5-756E-F368-7FCF-7180C443D50F}"/>
              </a:ext>
            </a:extLst>
          </p:cNvPr>
          <p:cNvSpPr txBox="1"/>
          <p:nvPr/>
        </p:nvSpPr>
        <p:spPr>
          <a:xfrm>
            <a:off x="3046771" y="678426"/>
            <a:ext cx="6098458" cy="4578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25"/>
              </a:lnSpc>
              <a:buNone/>
            </a:pPr>
            <a:r>
              <a:rPr lang="th-TH" sz="6000" b="1" dirty="0">
                <a:solidFill>
                  <a:schemeClr val="bg1">
                    <a:lumMod val="50000"/>
                  </a:schemeClr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ทฤษฎีและหลักการ</a:t>
            </a:r>
          </a:p>
        </p:txBody>
      </p:sp>
    </p:spTree>
    <p:extLst>
      <p:ext uri="{BB962C8B-B14F-4D97-AF65-F5344CB8AC3E}">
        <p14:creationId xmlns:p14="http://schemas.microsoft.com/office/powerpoint/2010/main" val="34510916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B6F804-4CF9-A0FD-5F69-5DBC78B5E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95225BD-5EB2-5EDE-D5F7-090CA7820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B8228-9F33-435A-BC7F-139DFAFA452A}" type="slidenum">
              <a:rPr lang="en-GB" sz="2000" smtClean="0"/>
              <a:pPr/>
              <a:t>6</a:t>
            </a:fld>
            <a:endParaRPr lang="en-GB" dirty="0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AEE9850D-7B46-C513-79A0-B3601E46E021}"/>
              </a:ext>
            </a:extLst>
          </p:cNvPr>
          <p:cNvSpPr txBox="1">
            <a:spLocks/>
          </p:cNvSpPr>
          <p:nvPr/>
        </p:nvSpPr>
        <p:spPr>
          <a:xfrm>
            <a:off x="733610" y="764818"/>
            <a:ext cx="3347134" cy="71041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425"/>
              </a:lnSpc>
              <a:buNone/>
            </a:pPr>
            <a:r>
              <a:rPr lang="en-US" sz="3200" b="1" u="sng" dirty="0">
                <a:solidFill>
                  <a:schemeClr val="bg1">
                    <a:lumMod val="50000"/>
                  </a:schemeClr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Game Design Principles</a:t>
            </a:r>
          </a:p>
          <a:p>
            <a:pPr marL="0" indent="0">
              <a:lnSpc>
                <a:spcPts val="1425"/>
              </a:lnSpc>
              <a:buNone/>
            </a:pPr>
            <a:endParaRPr lang="en-US" dirty="0">
              <a:solidFill>
                <a:schemeClr val="bg1">
                  <a:lumMod val="50000"/>
                </a:schemeClr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pPr>
              <a:lnSpc>
                <a:spcPts val="1425"/>
              </a:lnSpc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Copy to Development</a:t>
            </a:r>
            <a:endParaRPr lang="th-TH" dirty="0">
              <a:solidFill>
                <a:schemeClr val="bg1">
                  <a:lumMod val="50000"/>
                </a:schemeClr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pPr>
              <a:lnSpc>
                <a:spcPts val="1425"/>
              </a:lnSpc>
            </a:pPr>
            <a:endParaRPr lang="th-TH" dirty="0">
              <a:solidFill>
                <a:schemeClr val="bg1">
                  <a:lumMod val="50000"/>
                </a:schemeClr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pic>
        <p:nvPicPr>
          <p:cNvPr id="3074" name="Picture 2" descr="Terraria">
            <a:extLst>
              <a:ext uri="{FF2B5EF4-FFF2-40B4-BE49-F238E27FC236}">
                <a16:creationId xmlns:a16="http://schemas.microsoft.com/office/drawing/2014/main" id="{8BBCC1EB-593D-71C2-D53E-977E8796DC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3814" y="1763498"/>
            <a:ext cx="3433101" cy="1604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What is the Minecraft Title Screen Panorama Seed? - Gamepur">
            <a:extLst>
              <a:ext uri="{FF2B5EF4-FFF2-40B4-BE49-F238E27FC236}">
                <a16:creationId xmlns:a16="http://schemas.microsoft.com/office/drawing/2014/main" id="{AD4A2878-D125-7196-E1BC-A642159EF02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565"/>
          <a:stretch>
            <a:fillRect/>
          </a:stretch>
        </p:blipFill>
        <p:spPr bwMode="auto">
          <a:xfrm>
            <a:off x="8867806" y="2191022"/>
            <a:ext cx="2733298" cy="1483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Pokémon GO: การย้ายไปยังบ้านใหม่กับ Scopely">
            <a:extLst>
              <a:ext uri="{FF2B5EF4-FFF2-40B4-BE49-F238E27FC236}">
                <a16:creationId xmlns:a16="http://schemas.microsoft.com/office/drawing/2014/main" id="{A9490A91-779F-001D-7457-64FB217AD06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18" t="12908" r="20431" b="21773"/>
          <a:stretch>
            <a:fillRect/>
          </a:stretch>
        </p:blipFill>
        <p:spPr bwMode="auto">
          <a:xfrm>
            <a:off x="905773" y="2191022"/>
            <a:ext cx="2387150" cy="1465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C9E469C9-785D-0F06-D0E2-74614ABDC721}"/>
              </a:ext>
            </a:extLst>
          </p:cNvPr>
          <p:cNvSpPr txBox="1">
            <a:spLocks/>
          </p:cNvSpPr>
          <p:nvPr/>
        </p:nvSpPr>
        <p:spPr>
          <a:xfrm>
            <a:off x="799373" y="1475236"/>
            <a:ext cx="3028996" cy="33887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1425"/>
              </a:lnSpc>
              <a:buNone/>
            </a:pPr>
            <a:endParaRPr lang="th-TH" dirty="0">
              <a:solidFill>
                <a:schemeClr val="bg1">
                  <a:lumMod val="50000"/>
                </a:schemeClr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3ADF675D-17E3-07FE-B8D7-DCE4BE95FB62}"/>
              </a:ext>
            </a:extLst>
          </p:cNvPr>
          <p:cNvSpPr txBox="1">
            <a:spLocks/>
          </p:cNvSpPr>
          <p:nvPr/>
        </p:nvSpPr>
        <p:spPr>
          <a:xfrm>
            <a:off x="4581502" y="5242035"/>
            <a:ext cx="3028996" cy="40458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1425"/>
              </a:lnSpc>
              <a:buNone/>
            </a:pPr>
            <a:r>
              <a:rPr lang="th-TH" sz="4400" b="1" dirty="0">
                <a:solidFill>
                  <a:schemeClr val="bg1">
                    <a:lumMod val="50000"/>
                  </a:schemeClr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เกมของเรา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DC8F263-42CD-5724-9699-7DE55966947B}"/>
              </a:ext>
            </a:extLst>
          </p:cNvPr>
          <p:cNvCxnSpPr>
            <a:cxnSpLocks/>
          </p:cNvCxnSpPr>
          <p:nvPr/>
        </p:nvCxnSpPr>
        <p:spPr>
          <a:xfrm>
            <a:off x="2829464" y="3783052"/>
            <a:ext cx="2256475" cy="1332412"/>
          </a:xfrm>
          <a:prstGeom prst="straightConnector1">
            <a:avLst/>
          </a:prstGeom>
          <a:ln w="762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B09C542-B5CB-C0E9-4E08-BEC2A2E98A2C}"/>
              </a:ext>
            </a:extLst>
          </p:cNvPr>
          <p:cNvSpPr txBox="1"/>
          <p:nvPr/>
        </p:nvSpPr>
        <p:spPr>
          <a:xfrm>
            <a:off x="2829464" y="4345882"/>
            <a:ext cx="13170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Reward</a:t>
            </a:r>
            <a:endParaRPr lang="th-TH" b="1" dirty="0">
              <a:solidFill>
                <a:schemeClr val="bg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1229039-9CFC-42D6-D2F0-D4860C5CC028}"/>
              </a:ext>
            </a:extLst>
          </p:cNvPr>
          <p:cNvCxnSpPr>
            <a:cxnSpLocks/>
          </p:cNvCxnSpPr>
          <p:nvPr/>
        </p:nvCxnSpPr>
        <p:spPr>
          <a:xfrm>
            <a:off x="6096000" y="3429000"/>
            <a:ext cx="0" cy="1562311"/>
          </a:xfrm>
          <a:prstGeom prst="straightConnector1">
            <a:avLst/>
          </a:prstGeom>
          <a:ln w="762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8B95DE4-C3B9-4010-219B-EF87BB43672F}"/>
              </a:ext>
            </a:extLst>
          </p:cNvPr>
          <p:cNvCxnSpPr>
            <a:cxnSpLocks/>
          </p:cNvCxnSpPr>
          <p:nvPr/>
        </p:nvCxnSpPr>
        <p:spPr>
          <a:xfrm flipH="1">
            <a:off x="7007526" y="3783052"/>
            <a:ext cx="2421146" cy="1397295"/>
          </a:xfrm>
          <a:prstGeom prst="straightConnector1">
            <a:avLst/>
          </a:prstGeom>
          <a:ln w="762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9A03E7C7-7383-1446-3548-C6BB7AA8AF82}"/>
              </a:ext>
            </a:extLst>
          </p:cNvPr>
          <p:cNvSpPr txBox="1"/>
          <p:nvPr/>
        </p:nvSpPr>
        <p:spPr>
          <a:xfrm>
            <a:off x="4973898" y="3954487"/>
            <a:ext cx="13170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Progress</a:t>
            </a:r>
            <a:endParaRPr lang="th-TH" b="1" dirty="0">
              <a:solidFill>
                <a:schemeClr val="bg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A4483F7-C247-0099-CDCD-0C62DFA02D54}"/>
              </a:ext>
            </a:extLst>
          </p:cNvPr>
          <p:cNvSpPr txBox="1"/>
          <p:nvPr/>
        </p:nvSpPr>
        <p:spPr>
          <a:xfrm>
            <a:off x="8331313" y="4353654"/>
            <a:ext cx="18139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Gameplay</a:t>
            </a:r>
            <a:endParaRPr lang="th-TH" b="1" dirty="0">
              <a:solidFill>
                <a:schemeClr val="bg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237614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2E9675-02B6-5A59-579F-FEAB63A8D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4C7D97E-6E76-180A-C54B-8EAC4BBB8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B8228-9F33-435A-BC7F-139DFAFA452A}" type="slidenum">
              <a:rPr lang="en-GB" sz="2000" smtClean="0"/>
              <a:pPr/>
              <a:t>7</a:t>
            </a:fld>
            <a:endParaRPr lang="en-GB" dirty="0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51ACB8DA-3B8F-1BE4-7B4E-5C1DC95F1D8B}"/>
              </a:ext>
            </a:extLst>
          </p:cNvPr>
          <p:cNvSpPr txBox="1">
            <a:spLocks/>
          </p:cNvSpPr>
          <p:nvPr/>
        </p:nvSpPr>
        <p:spPr>
          <a:xfrm>
            <a:off x="723495" y="708421"/>
            <a:ext cx="3322294" cy="36933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425"/>
              </a:lnSpc>
              <a:buNone/>
            </a:pPr>
            <a:r>
              <a:rPr lang="en-US" sz="3200" b="1" u="sng" dirty="0">
                <a:solidFill>
                  <a:schemeClr val="bg1">
                    <a:lumMod val="50000"/>
                  </a:schemeClr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Roblox Platform</a:t>
            </a:r>
          </a:p>
          <a:p>
            <a:pPr>
              <a:lnSpc>
                <a:spcPts val="1425"/>
              </a:lnSpc>
              <a:buNone/>
            </a:pPr>
            <a:endParaRPr lang="en-US" b="1" dirty="0">
              <a:solidFill>
                <a:schemeClr val="bg1">
                  <a:lumMod val="50000"/>
                </a:schemeClr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pPr>
              <a:lnSpc>
                <a:spcPts val="1425"/>
              </a:lnSpc>
              <a:buNone/>
            </a:pPr>
            <a:endParaRPr lang="th-TH" b="1" dirty="0">
              <a:solidFill>
                <a:schemeClr val="bg1">
                  <a:lumMod val="50000"/>
                </a:schemeClr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pic>
        <p:nvPicPr>
          <p:cNvPr id="2050" name="Picture 2" descr="A diagram of the server communicating with all connected clients.">
            <a:extLst>
              <a:ext uri="{FF2B5EF4-FFF2-40B4-BE49-F238E27FC236}">
                <a16:creationId xmlns:a16="http://schemas.microsoft.com/office/drawing/2014/main" id="{C3ABDD99-0E90-7BAE-5138-DBEE41BFAD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1807" y="2383644"/>
            <a:ext cx="3995949" cy="2267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3C8E6DB-931E-1B15-055B-AFA54C24C570}"/>
              </a:ext>
            </a:extLst>
          </p:cNvPr>
          <p:cNvSpPr txBox="1"/>
          <p:nvPr/>
        </p:nvSpPr>
        <p:spPr>
          <a:xfrm>
            <a:off x="350274" y="6451475"/>
            <a:ext cx="60984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dirty="0">
                <a:solidFill>
                  <a:schemeClr val="bg1">
                    <a:lumMod val="50000"/>
                  </a:schemeClr>
                </a:solidFill>
              </a:rPr>
              <a:t>ที่มา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: 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https://create.roblox.com/docs/projects/client-server</a:t>
            </a:r>
            <a:endParaRPr lang="th-TH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9DEA0F-1D65-9928-A54E-4754A4CE5C34}"/>
              </a:ext>
            </a:extLst>
          </p:cNvPr>
          <p:cNvSpPr txBox="1"/>
          <p:nvPr/>
        </p:nvSpPr>
        <p:spPr>
          <a:xfrm>
            <a:off x="8222006" y="1948201"/>
            <a:ext cx="2775549" cy="3347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25"/>
              </a:lnSpc>
              <a:buNone/>
            </a:pPr>
            <a:r>
              <a:rPr lang="en-US" sz="2800" b="1" dirty="0">
                <a:solidFill>
                  <a:schemeClr val="bg1">
                    <a:lumMod val="50000"/>
                  </a:schemeClr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Client–Server Model</a:t>
            </a:r>
            <a:endParaRPr lang="th-TH" sz="2800" b="1" dirty="0">
              <a:solidFill>
                <a:schemeClr val="bg1">
                  <a:lumMod val="50000"/>
                </a:schemeClr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735E74C-2735-ABDA-A2F3-7F3819AEFF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7159" y="2220612"/>
            <a:ext cx="2730722" cy="273072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A6ED064-04A6-E75B-EF64-F6D0EFA78A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783" y="2352984"/>
            <a:ext cx="2438400" cy="24384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B2C212B-8836-EED7-DF89-5703BA745A02}"/>
              </a:ext>
            </a:extLst>
          </p:cNvPr>
          <p:cNvSpPr txBox="1"/>
          <p:nvPr/>
        </p:nvSpPr>
        <p:spPr>
          <a:xfrm>
            <a:off x="4222332" y="1918777"/>
            <a:ext cx="2775549" cy="3347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25"/>
              </a:lnSpc>
              <a:buNone/>
            </a:pPr>
            <a:r>
              <a:rPr lang="en-US" sz="2800" b="1" dirty="0">
                <a:solidFill>
                  <a:schemeClr val="bg1">
                    <a:lumMod val="50000"/>
                  </a:schemeClr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Luau</a:t>
            </a:r>
            <a:endParaRPr lang="th-TH" sz="2800" b="1" dirty="0">
              <a:solidFill>
                <a:schemeClr val="bg1">
                  <a:lumMod val="50000"/>
                </a:schemeClr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96BB571-C653-9241-BFDE-03496A4D1E9E}"/>
              </a:ext>
            </a:extLst>
          </p:cNvPr>
          <p:cNvSpPr txBox="1"/>
          <p:nvPr/>
        </p:nvSpPr>
        <p:spPr>
          <a:xfrm>
            <a:off x="573208" y="1863330"/>
            <a:ext cx="2775549" cy="3347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25"/>
              </a:lnSpc>
              <a:buNone/>
            </a:pPr>
            <a:r>
              <a:rPr lang="en-US" sz="2800" b="1" dirty="0">
                <a:solidFill>
                  <a:schemeClr val="bg1">
                    <a:lumMod val="50000"/>
                  </a:schemeClr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Roblox Studio</a:t>
            </a:r>
            <a:endParaRPr lang="th-TH" sz="2800" b="1" dirty="0">
              <a:solidFill>
                <a:schemeClr val="bg1">
                  <a:lumMod val="50000"/>
                </a:schemeClr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0831533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3AB4D-2093-139B-0412-09DD6AEF4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405C1A5-D1BC-3D6B-99E9-3F10B21D6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B8228-9F33-435A-BC7F-139DFAFA452A}" type="slidenum">
              <a:rPr lang="en-GB" sz="2000" smtClean="0"/>
              <a:pPr/>
              <a:t>8</a:t>
            </a:fld>
            <a:endParaRPr lang="en-GB" dirty="0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35675451-E946-337D-6F8D-6BF26D69D037}"/>
              </a:ext>
            </a:extLst>
          </p:cNvPr>
          <p:cNvSpPr txBox="1">
            <a:spLocks/>
          </p:cNvSpPr>
          <p:nvPr/>
        </p:nvSpPr>
        <p:spPr>
          <a:xfrm>
            <a:off x="827064" y="1259095"/>
            <a:ext cx="8970265" cy="134414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425"/>
              </a:lnSpc>
              <a:spcAft>
                <a:spcPts val="300"/>
              </a:spcAft>
            </a:pPr>
            <a:r>
              <a:rPr lang="th-TH" dirty="0">
                <a:solidFill>
                  <a:schemeClr val="bg1">
                    <a:lumMod val="50000"/>
                  </a:schemeClr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ถ้าทำให้เกมสนุก เด็กอยากเล่น เด็กจะอยากเข้าใจเกม</a:t>
            </a:r>
          </a:p>
          <a:p>
            <a:pPr>
              <a:lnSpc>
                <a:spcPts val="1425"/>
              </a:lnSpc>
              <a:spcAft>
                <a:spcPts val="300"/>
              </a:spcAft>
            </a:pPr>
            <a:endParaRPr lang="th-TH" dirty="0">
              <a:solidFill>
                <a:schemeClr val="bg1">
                  <a:lumMod val="50000"/>
                </a:schemeClr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pPr>
              <a:lnSpc>
                <a:spcPts val="1425"/>
              </a:lnSpc>
              <a:spcAft>
                <a:spcPts val="300"/>
              </a:spcAft>
            </a:pPr>
            <a:r>
              <a:rPr lang="th-TH" dirty="0">
                <a:solidFill>
                  <a:schemeClr val="bg1">
                    <a:lumMod val="50000"/>
                  </a:schemeClr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บทสนทนาและคำศัพท์ในชีวิตประจำวัน</a:t>
            </a:r>
          </a:p>
          <a:p>
            <a:pPr>
              <a:lnSpc>
                <a:spcPts val="1425"/>
              </a:lnSpc>
              <a:spcAft>
                <a:spcPts val="300"/>
              </a:spcAft>
            </a:pPr>
            <a:endParaRPr lang="th-TH" dirty="0">
              <a:solidFill>
                <a:schemeClr val="bg1">
                  <a:lumMod val="50000"/>
                </a:schemeClr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pPr>
              <a:lnSpc>
                <a:spcPts val="1425"/>
              </a:lnSpc>
              <a:spcAft>
                <a:spcPts val="300"/>
              </a:spcAft>
            </a:pPr>
            <a:endParaRPr lang="th-TH" dirty="0">
              <a:solidFill>
                <a:schemeClr val="bg1">
                  <a:lumMod val="50000"/>
                </a:schemeClr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E7D4116E-F887-649C-26F1-9365C1ED8463}"/>
              </a:ext>
            </a:extLst>
          </p:cNvPr>
          <p:cNvSpPr txBox="1">
            <a:spLocks/>
          </p:cNvSpPr>
          <p:nvPr/>
        </p:nvSpPr>
        <p:spPr>
          <a:xfrm>
            <a:off x="723495" y="708421"/>
            <a:ext cx="3322294" cy="36933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425"/>
              </a:lnSpc>
              <a:buNone/>
            </a:pPr>
            <a:r>
              <a:rPr lang="th-TH" sz="3200" b="1" u="sng" dirty="0">
                <a:solidFill>
                  <a:schemeClr val="bg1">
                    <a:lumMod val="50000"/>
                  </a:schemeClr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วิธีการเรียนรู้</a:t>
            </a:r>
            <a:endParaRPr lang="en-US" sz="3200" b="1" u="sng" dirty="0">
              <a:solidFill>
                <a:schemeClr val="bg1">
                  <a:lumMod val="50000"/>
                </a:schemeClr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pPr>
              <a:lnSpc>
                <a:spcPts val="1425"/>
              </a:lnSpc>
              <a:buNone/>
            </a:pPr>
            <a:endParaRPr lang="en-US" b="1" dirty="0">
              <a:solidFill>
                <a:schemeClr val="bg1">
                  <a:lumMod val="50000"/>
                </a:schemeClr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pPr>
              <a:lnSpc>
                <a:spcPts val="1425"/>
              </a:lnSpc>
              <a:buNone/>
            </a:pPr>
            <a:endParaRPr lang="th-TH" b="1" dirty="0">
              <a:solidFill>
                <a:schemeClr val="bg1">
                  <a:lumMod val="50000"/>
                </a:schemeClr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CE6F68E-173B-5C98-BF74-77EB368F61D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391" t="12120" r="12263" b="13965"/>
          <a:stretch>
            <a:fillRect/>
          </a:stretch>
        </p:blipFill>
        <p:spPr>
          <a:xfrm>
            <a:off x="529836" y="3247238"/>
            <a:ext cx="2884038" cy="165678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846DB32-EB2B-6D63-2AC4-D0DFAA11E2B6}"/>
              </a:ext>
            </a:extLst>
          </p:cNvPr>
          <p:cNvSpPr txBox="1"/>
          <p:nvPr/>
        </p:nvSpPr>
        <p:spPr>
          <a:xfrm>
            <a:off x="963317" y="5075685"/>
            <a:ext cx="2017076" cy="523220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th-TH" sz="28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คำทักทาย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152761F-89EB-1931-2284-99754C40FAC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359" t="18871" r="17666"/>
          <a:stretch>
            <a:fillRect/>
          </a:stretch>
        </p:blipFill>
        <p:spPr>
          <a:xfrm>
            <a:off x="4021344" y="3247238"/>
            <a:ext cx="3554856" cy="165678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E03AC7A-1B0B-6468-5ED6-2B918E5E2EAC}"/>
              </a:ext>
            </a:extLst>
          </p:cNvPr>
          <p:cNvSpPr txBox="1"/>
          <p:nvPr/>
        </p:nvSpPr>
        <p:spPr>
          <a:xfrm>
            <a:off x="4807258" y="5075683"/>
            <a:ext cx="2017076" cy="523220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th-TH" sz="28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การค้าขาย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B9E6D90-DD8C-A078-0AA9-2764ADC99E5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8010" t="8186" r="14561" b="18330"/>
          <a:stretch>
            <a:fillRect/>
          </a:stretch>
        </p:blipFill>
        <p:spPr>
          <a:xfrm>
            <a:off x="8183670" y="3247238"/>
            <a:ext cx="3247932" cy="1656789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C204179-DE95-D2C9-7D04-83D052CA427B}"/>
              </a:ext>
            </a:extLst>
          </p:cNvPr>
          <p:cNvSpPr txBox="1"/>
          <p:nvPr/>
        </p:nvSpPr>
        <p:spPr>
          <a:xfrm>
            <a:off x="8743489" y="5075683"/>
            <a:ext cx="2017076" cy="523220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th-TH" sz="28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การบอกทิศทาง</a:t>
            </a:r>
          </a:p>
        </p:txBody>
      </p:sp>
    </p:spTree>
    <p:extLst>
      <p:ext uri="{BB962C8B-B14F-4D97-AF65-F5344CB8AC3E}">
        <p14:creationId xmlns:p14="http://schemas.microsoft.com/office/powerpoint/2010/main" val="22016870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7CD4CC-67CC-2B75-64E9-569208B72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FEB21E6-A67F-D449-41D2-F9264686E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B8228-9F33-435A-BC7F-139DFAFA452A}" type="slidenum">
              <a:rPr lang="en-GB" sz="2000" smtClean="0"/>
              <a:pPr/>
              <a:t>9</a:t>
            </a:fld>
            <a:endParaRPr lang="en-GB" dirty="0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586CB1AD-2CBA-A2D2-80D7-CAA734BE235E}"/>
              </a:ext>
            </a:extLst>
          </p:cNvPr>
          <p:cNvSpPr txBox="1">
            <a:spLocks/>
          </p:cNvSpPr>
          <p:nvPr/>
        </p:nvSpPr>
        <p:spPr>
          <a:xfrm>
            <a:off x="854124" y="1380393"/>
            <a:ext cx="8970265" cy="339688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425"/>
              </a:lnSpc>
              <a:spcAft>
                <a:spcPts val="300"/>
              </a:spcAft>
            </a:pPr>
            <a:endParaRPr lang="th-TH" dirty="0">
              <a:solidFill>
                <a:schemeClr val="bg1">
                  <a:lumMod val="50000"/>
                </a:schemeClr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pPr>
              <a:lnSpc>
                <a:spcPts val="1425"/>
              </a:lnSpc>
              <a:spcAft>
                <a:spcPts val="300"/>
              </a:spcAft>
            </a:pPr>
            <a:endParaRPr lang="th-TH" dirty="0">
              <a:solidFill>
                <a:schemeClr val="bg1">
                  <a:lumMod val="50000"/>
                </a:schemeClr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pPr>
              <a:lnSpc>
                <a:spcPts val="1425"/>
              </a:lnSpc>
              <a:spcAft>
                <a:spcPts val="300"/>
              </a:spcAft>
            </a:pPr>
            <a:endParaRPr lang="th-TH" dirty="0">
              <a:solidFill>
                <a:schemeClr val="bg1">
                  <a:lumMod val="50000"/>
                </a:schemeClr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pPr>
              <a:lnSpc>
                <a:spcPts val="1425"/>
              </a:lnSpc>
              <a:spcAft>
                <a:spcPts val="300"/>
              </a:spcAft>
            </a:pPr>
            <a:endParaRPr lang="th-TH" dirty="0">
              <a:solidFill>
                <a:schemeClr val="bg1">
                  <a:lumMod val="50000"/>
                </a:schemeClr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pPr>
              <a:lnSpc>
                <a:spcPts val="1425"/>
              </a:lnSpc>
              <a:spcAft>
                <a:spcPts val="300"/>
              </a:spcAft>
            </a:pPr>
            <a:endParaRPr lang="th-TH" dirty="0">
              <a:solidFill>
                <a:schemeClr val="bg1">
                  <a:lumMod val="50000"/>
                </a:schemeClr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pPr>
              <a:lnSpc>
                <a:spcPts val="1425"/>
              </a:lnSpc>
              <a:spcAft>
                <a:spcPts val="300"/>
              </a:spcAft>
            </a:pPr>
            <a:endParaRPr lang="th-TH" dirty="0">
              <a:solidFill>
                <a:schemeClr val="bg1">
                  <a:lumMod val="50000"/>
                </a:schemeClr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7D5C53F2-1627-24C3-343B-E289CA562721}"/>
              </a:ext>
            </a:extLst>
          </p:cNvPr>
          <p:cNvSpPr txBox="1">
            <a:spLocks/>
          </p:cNvSpPr>
          <p:nvPr/>
        </p:nvSpPr>
        <p:spPr>
          <a:xfrm>
            <a:off x="723495" y="708421"/>
            <a:ext cx="3322294" cy="36933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425"/>
              </a:lnSpc>
              <a:buNone/>
            </a:pPr>
            <a:r>
              <a:rPr lang="th-TH" sz="3200" b="1" u="sng" dirty="0">
                <a:solidFill>
                  <a:schemeClr val="bg1">
                    <a:lumMod val="50000"/>
                  </a:schemeClr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การวัดผล</a:t>
            </a:r>
            <a:endParaRPr lang="en-US" sz="3200" b="1" u="sng" dirty="0">
              <a:solidFill>
                <a:schemeClr val="bg1">
                  <a:lumMod val="50000"/>
                </a:schemeClr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pPr>
              <a:lnSpc>
                <a:spcPts val="1425"/>
              </a:lnSpc>
              <a:buNone/>
            </a:pPr>
            <a:endParaRPr lang="en-US" b="1" dirty="0">
              <a:solidFill>
                <a:schemeClr val="bg1">
                  <a:lumMod val="50000"/>
                </a:schemeClr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pPr>
              <a:lnSpc>
                <a:spcPts val="1425"/>
              </a:lnSpc>
              <a:buNone/>
            </a:pPr>
            <a:endParaRPr lang="th-TH" b="1" dirty="0">
              <a:solidFill>
                <a:schemeClr val="bg1">
                  <a:lumMod val="50000"/>
                </a:schemeClr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F22F3D-D696-06F1-2745-366B6EEBB1BD}"/>
              </a:ext>
            </a:extLst>
          </p:cNvPr>
          <p:cNvSpPr txBox="1"/>
          <p:nvPr/>
        </p:nvSpPr>
        <p:spPr>
          <a:xfrm>
            <a:off x="4045788" y="3078833"/>
            <a:ext cx="3890767" cy="584775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th-TH" sz="3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ผู้ปกครองเป็นผู้สังเกต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443C0E-41DC-28D3-122B-DDF1575C9914}"/>
              </a:ext>
            </a:extLst>
          </p:cNvPr>
          <p:cNvSpPr txBox="1"/>
          <p:nvPr/>
        </p:nvSpPr>
        <p:spPr>
          <a:xfrm>
            <a:off x="4045787" y="1706393"/>
            <a:ext cx="3890767" cy="584775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th-TH" sz="3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แบบทดสอบก่อนเล่น หลังเล่น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9A1C15-5936-7303-8842-A05A9B914B7F}"/>
              </a:ext>
            </a:extLst>
          </p:cNvPr>
          <p:cNvSpPr txBox="1"/>
          <p:nvPr/>
        </p:nvSpPr>
        <p:spPr>
          <a:xfrm>
            <a:off x="4045789" y="4451488"/>
            <a:ext cx="3890767" cy="584775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th-TH" sz="3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บันทึกพฤติกรรมการเล่น</a:t>
            </a:r>
          </a:p>
        </p:txBody>
      </p:sp>
    </p:spTree>
    <p:extLst>
      <p:ext uri="{BB962C8B-B14F-4D97-AF65-F5344CB8AC3E}">
        <p14:creationId xmlns:p14="http://schemas.microsoft.com/office/powerpoint/2010/main" val="31598312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9366F76-F868-CF4E-FA64-9C8E282C5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B8228-9F33-435A-BC7F-139DFAFA452A}" type="slidenum">
              <a:rPr lang="en-GB" sz="2000" smtClean="0"/>
              <a:pPr/>
              <a:t>10</a:t>
            </a:fld>
            <a:endParaRPr lang="en-GB" dirty="0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988701A0-BFC9-78AC-6508-1864AFC23857}"/>
              </a:ext>
            </a:extLst>
          </p:cNvPr>
          <p:cNvSpPr txBox="1">
            <a:spLocks/>
          </p:cNvSpPr>
          <p:nvPr/>
        </p:nvSpPr>
        <p:spPr>
          <a:xfrm>
            <a:off x="1457075" y="1436767"/>
            <a:ext cx="9277849" cy="365246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th-TH" dirty="0">
                <a:solidFill>
                  <a:schemeClr val="bg1">
                    <a:lumMod val="50000"/>
                  </a:schemeClr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1. ศึกษาทฤษฎีที่เกี่ยวข้องและรวบรวมข้อมูลเกี่ยวกับการออกแบบเกม 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th-TH" dirty="0">
                <a:solidFill>
                  <a:schemeClr val="bg1">
                    <a:lumMod val="50000"/>
                  </a:schemeClr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2. ศึกษาทฤษฎีที่เกี่ยวข้องและรวบรวมข้อมูลเกี่ยวกับการเรียนรู้ภาษา 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th-TH" dirty="0">
                <a:solidFill>
                  <a:schemeClr val="bg1">
                    <a:lumMod val="50000"/>
                  </a:schemeClr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3. ออกแบบสถาปัตยกรรมระบบ (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System Architecture) </a:t>
            </a:r>
            <a:r>
              <a:rPr lang="th-TH" dirty="0">
                <a:solidFill>
                  <a:schemeClr val="bg1">
                    <a:lumMod val="50000"/>
                  </a:schemeClr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และกลไกเกม (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Game Mechanics) 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GB" dirty="0">
                <a:solidFill>
                  <a:schemeClr val="bg1">
                    <a:lumMod val="50000"/>
                  </a:schemeClr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4. </a:t>
            </a:r>
            <a:r>
              <a:rPr lang="th-TH" dirty="0">
                <a:solidFill>
                  <a:schemeClr val="bg1">
                    <a:lumMod val="50000"/>
                  </a:schemeClr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ออกแบบเกมในส่วนของการเรียนรู้ภาษาอังกฤษ 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th-TH" dirty="0">
                <a:solidFill>
                  <a:schemeClr val="bg1">
                    <a:lumMod val="50000"/>
                  </a:schemeClr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5. พัฒนาระบบเกม (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Front-end) </a:t>
            </a:r>
            <a:r>
              <a:rPr lang="th-TH" dirty="0">
                <a:solidFill>
                  <a:schemeClr val="bg1">
                    <a:lumMod val="50000"/>
                  </a:schemeClr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และ (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Back-end) 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GB" dirty="0">
                <a:solidFill>
                  <a:schemeClr val="bg1">
                    <a:lumMod val="50000"/>
                  </a:schemeClr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6. </a:t>
            </a:r>
            <a:r>
              <a:rPr lang="th-TH" dirty="0">
                <a:solidFill>
                  <a:schemeClr val="bg1">
                    <a:lumMod val="50000"/>
                  </a:schemeClr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ทดสอบการท างานของระบบ (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Unit Test / Integration Test) 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GB" dirty="0">
                <a:solidFill>
                  <a:schemeClr val="bg1">
                    <a:lumMod val="50000"/>
                  </a:schemeClr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7. </a:t>
            </a:r>
            <a:r>
              <a:rPr lang="th-TH" dirty="0">
                <a:solidFill>
                  <a:schemeClr val="bg1">
                    <a:lumMod val="50000"/>
                  </a:schemeClr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ประเมินผลประสิทธิภาพการเรียนรู้ (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Pre-test / Post-test) </a:t>
            </a:r>
            <a:r>
              <a:rPr lang="th-TH" dirty="0">
                <a:solidFill>
                  <a:schemeClr val="bg1">
                    <a:lumMod val="50000"/>
                  </a:schemeClr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กับกลุ่มตัวอย่าง 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th-TH" dirty="0">
                <a:solidFill>
                  <a:schemeClr val="bg1">
                    <a:lumMod val="50000"/>
                  </a:schemeClr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8. จัดทำรายงาน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FDCD6B-68ED-EDA1-FCA3-B67801E1C52B}"/>
              </a:ext>
            </a:extLst>
          </p:cNvPr>
          <p:cNvSpPr txBox="1"/>
          <p:nvPr/>
        </p:nvSpPr>
        <p:spPr>
          <a:xfrm>
            <a:off x="3046771" y="816448"/>
            <a:ext cx="6098458" cy="4578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25"/>
              </a:lnSpc>
              <a:buNone/>
            </a:pPr>
            <a:r>
              <a:rPr lang="th-TH" sz="6000" b="1" dirty="0">
                <a:solidFill>
                  <a:schemeClr val="bg1">
                    <a:lumMod val="50000"/>
                  </a:schemeClr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ขั้นตอนและวิธีดำเนินการ</a:t>
            </a:r>
          </a:p>
        </p:txBody>
      </p:sp>
    </p:spTree>
    <p:extLst>
      <p:ext uri="{BB962C8B-B14F-4D97-AF65-F5344CB8AC3E}">
        <p14:creationId xmlns:p14="http://schemas.microsoft.com/office/powerpoint/2010/main" val="3282097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A31D9F-3579-DF07-CFD1-7C2B7CF1D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77D6472-FF59-9B63-202C-3A9877D619BD}"/>
              </a:ext>
            </a:extLst>
          </p:cNvPr>
          <p:cNvSpPr txBox="1"/>
          <p:nvPr/>
        </p:nvSpPr>
        <p:spPr>
          <a:xfrm>
            <a:off x="561264" y="378774"/>
            <a:ext cx="6040271" cy="753991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000" b="1" dirty="0">
              <a:solidFill>
                <a:schemeClr val="bg2"/>
              </a:solidFill>
              <a:effectLst/>
              <a:latin typeface="+mj-lt"/>
              <a:ea typeface="+mj-ea"/>
              <a:cs typeface="+mj-c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A075469-F2E9-2AEF-541C-FA66CC5D4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1602" y="31189"/>
            <a:ext cx="632579" cy="347585"/>
          </a:xfrm>
        </p:spPr>
        <p:txBody>
          <a:bodyPr>
            <a:normAutofit fontScale="92500" lnSpcReduction="20000"/>
          </a:bodyPr>
          <a:lstStyle/>
          <a:p>
            <a:pPr>
              <a:spcAft>
                <a:spcPts val="600"/>
              </a:spcAft>
            </a:pPr>
            <a:fld id="{CDBB8228-9F33-435A-BC7F-139DFAFA452A}" type="slidenum">
              <a:rPr lang="en-GB" sz="2200" smtClean="0"/>
              <a:pPr>
                <a:spcAft>
                  <a:spcPts val="600"/>
                </a:spcAft>
              </a:pPr>
              <a:t>11</a:t>
            </a:fld>
            <a:endParaRPr lang="en-GB" dirty="0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5CEC4DA8-86DF-C967-CE97-E7A1CA090118}"/>
              </a:ext>
            </a:extLst>
          </p:cNvPr>
          <p:cNvSpPr txBox="1">
            <a:spLocks/>
          </p:cNvSpPr>
          <p:nvPr/>
        </p:nvSpPr>
        <p:spPr>
          <a:xfrm>
            <a:off x="561264" y="1909104"/>
            <a:ext cx="10515053" cy="409612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700"/>
              </a:spcBef>
              <a:buNone/>
            </a:pPr>
            <a:r>
              <a:rPr lang="en-US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ด้านผู้เรียน</a:t>
            </a:r>
            <a:endParaRPr lang="en-US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pPr>
              <a:spcBef>
                <a:spcPts val="700"/>
              </a:spcBef>
            </a:pPr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ภาษาอังกฤษดีขึ้น มั่นใจในการสื่อสาร เรียนรู้แบบสนุก ไม่กดดัน</a:t>
            </a:r>
            <a:br>
              <a:rPr lang="en-US" dirty="0">
                <a:latin typeface="TH Sarabun New" panose="020B0500040200020003" pitchFamily="34" charset="-34"/>
                <a:cs typeface="TH Sarabun New" panose="020B0500040200020003" pitchFamily="34" charset="-34"/>
              </a:rPr>
            </a:br>
            <a:endParaRPr lang="en-US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pPr marL="0" indent="0">
              <a:spcBef>
                <a:spcPts val="700"/>
              </a:spcBef>
              <a:buNone/>
            </a:pPr>
            <a:r>
              <a:rPr lang="en-US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ด้านสังคม</a:t>
            </a:r>
            <a:endParaRPr lang="en-US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pPr>
              <a:spcBef>
                <a:spcPts val="700"/>
              </a:spcBef>
            </a:pPr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เล่นเกมอย่างสร้างสรรค์</a:t>
            </a:r>
            <a:endParaRPr lang="en-US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pPr>
              <a:spcBef>
                <a:spcPts val="700"/>
              </a:spcBef>
            </a:pPr>
            <a:r>
              <a:rPr lang="en-US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ใช้เวลาว่างให้เกิดประโยชน์</a:t>
            </a:r>
            <a:endParaRPr lang="en-US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pPr>
              <a:spcBef>
                <a:spcPts val="700"/>
              </a:spcBef>
            </a:pPr>
            <a:endParaRPr lang="en-US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pPr marL="0" indent="0">
              <a:spcBef>
                <a:spcPts val="700"/>
              </a:spcBef>
              <a:buNone/>
            </a:pPr>
            <a:r>
              <a:rPr lang="en-US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ด้านนวัตกรรม</a:t>
            </a:r>
            <a:endParaRPr lang="th-TH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pPr>
              <a:spcBef>
                <a:spcPts val="700"/>
              </a:spcBef>
            </a:pPr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ได้ </a:t>
            </a:r>
            <a:r>
              <a:rPr lang="en-US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Prototype </a:t>
            </a:r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เกมการศึกษา</a:t>
            </a:r>
          </a:p>
          <a:p>
            <a:pPr>
              <a:spcBef>
                <a:spcPts val="700"/>
              </a:spcBef>
            </a:pPr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ต่อยอดใช้ในวิชาอื่นได้</a:t>
            </a:r>
            <a:endParaRPr lang="en-US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3" name="Title 9">
            <a:extLst>
              <a:ext uri="{FF2B5EF4-FFF2-40B4-BE49-F238E27FC236}">
                <a16:creationId xmlns:a16="http://schemas.microsoft.com/office/drawing/2014/main" id="{2F3639CD-3EB3-351C-2839-A24227F7E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5864" y="460470"/>
            <a:ext cx="6040271" cy="753991"/>
          </a:xfrm>
        </p:spPr>
        <p:txBody>
          <a:bodyPr>
            <a:noAutofit/>
          </a:bodyPr>
          <a:lstStyle/>
          <a:p>
            <a:pPr algn="ctr"/>
            <a:r>
              <a:rPr lang="th-TH" sz="6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ประโยชน์ที่คาดว่าจะได้รับ</a:t>
            </a:r>
          </a:p>
        </p:txBody>
      </p:sp>
    </p:spTree>
    <p:extLst>
      <p:ext uri="{BB962C8B-B14F-4D97-AF65-F5344CB8AC3E}">
        <p14:creationId xmlns:p14="http://schemas.microsoft.com/office/powerpoint/2010/main" val="15097563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18EE19E-886E-9E4E-6905-07E91C29F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B8228-9F33-435A-BC7F-139DFAFA452A}" type="slidenum">
              <a:rPr lang="en-GB" sz="2000" smtClean="0"/>
              <a:pPr/>
              <a:t>12</a:t>
            </a:fld>
            <a:endParaRPr lang="en-GB" dirty="0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B6950564-6781-323C-F61E-0D4486132C5C}"/>
              </a:ext>
            </a:extLst>
          </p:cNvPr>
          <p:cNvSpPr txBox="1">
            <a:spLocks/>
          </p:cNvSpPr>
          <p:nvPr/>
        </p:nvSpPr>
        <p:spPr>
          <a:xfrm>
            <a:off x="3797819" y="2839021"/>
            <a:ext cx="4596361" cy="117995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ctr" defTabSz="914400" rtl="0" eaLnBrk="1" latinLnBrk="0" hangingPunct="1"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0" b="1" dirty="0"/>
              <a:t>Q&amp;A</a:t>
            </a:r>
            <a:endParaRPr lang="en-GB" sz="8000" b="1" dirty="0"/>
          </a:p>
        </p:txBody>
      </p:sp>
    </p:spTree>
    <p:extLst>
      <p:ext uri="{BB962C8B-B14F-4D97-AF65-F5344CB8AC3E}">
        <p14:creationId xmlns:p14="http://schemas.microsoft.com/office/powerpoint/2010/main" val="2254915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 txBox="1">
            <a:spLocks/>
          </p:cNvSpPr>
          <p:nvPr/>
        </p:nvSpPr>
        <p:spPr>
          <a:xfrm>
            <a:off x="557602" y="3656629"/>
            <a:ext cx="4139122" cy="136885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h-TH" sz="800"/>
              <a:t>ในปัจจุบัน ภาษาอังกฤษถือเป็นทักษะที่มีความจำเป็นอย่างยิ่งต่อการสื่อสาร และการเข้าถึงองค์ความรู้ในระดับสากล อย่างไรก็ตาม ปัญหาสำคัญที่พบในกลุ่มเด็กและเยาวชนไทยคือ การขาดความมั่นใจในการใช้ภาษาอังกฤษ รู้สึกว่าการเรียนในห้องเรียนมีความเคร่งเครียด หรือขาดแรงจูงใจในการฝึกฝน ส่งผลให้ทักษะทางด้านภาษาไม่ได้รับการพัฒนาเท่าที่ควร</a:t>
            </a:r>
            <a:br>
              <a:rPr lang="th-TH" sz="800"/>
            </a:br>
            <a:endParaRPr lang="th-TH" sz="800"/>
          </a:p>
          <a:p>
            <a:r>
              <a:rPr lang="th-TH" sz="800"/>
              <a:t>ในขณะเดียวกัน เทคโนโลยีดิจิทัลได้เข้ามามีบทบาทสำคัญในชีวิตประจำวัน โดยเฉพาะ "เกมออนไลน์" ซึ่งเป็นสื่อที่ได้รับความนิยมสูงสุดในกลุ่มเยาวชน ผู้จัดทำโครงงานจึงเล็งเห็นโอกาสในการนำความสนใจนี้มาเปลี่ยนเป็นเครื่องมือในการเรียนรู้ (</a:t>
            </a:r>
            <a:r>
              <a:rPr lang="en-GB" sz="800"/>
              <a:t>Game-based Learning) </a:t>
            </a:r>
            <a:r>
              <a:rPr lang="th-TH" sz="800"/>
              <a:t>โดยเลือกใช้แพลตฟอร์ม </a:t>
            </a:r>
            <a:r>
              <a:rPr lang="en-GB" sz="800"/>
              <a:t>Roblox </a:t>
            </a:r>
            <a:r>
              <a:rPr lang="th-TH" sz="800"/>
              <a:t>ซึ่งเป็นแพลตฟอร์มที่มีฐานผู้เล่นวัยเยาว์จำนวนมากและเข้าถึงได้ง่าย มาเป็นสื่อกลาง</a:t>
            </a:r>
            <a:br>
              <a:rPr lang="th-TH" sz="800"/>
            </a:br>
            <a:endParaRPr lang="th-TH" sz="800"/>
          </a:p>
          <a:p>
            <a:r>
              <a:rPr lang="th-TH" sz="800"/>
              <a:t>ดังนั้น คณะผู้จัดทำจึงมีแนวคิดที่จะพัฒนาเกมในรูปแบบการศึกษา (</a:t>
            </a:r>
            <a:r>
              <a:rPr lang="en-GB" sz="800"/>
              <a:t>Educational Game) </a:t>
            </a:r>
            <a:r>
              <a:rPr lang="th-TH" sz="800"/>
              <a:t>บนแพลตฟอร์ม </a:t>
            </a:r>
            <a:r>
              <a:rPr lang="en-GB" sz="800"/>
              <a:t>Roblox </a:t>
            </a:r>
            <a:r>
              <a:rPr lang="th-TH" sz="800"/>
              <a:t>เพื่อจำลองสถานการณ์การใช้ภาษาอังกฤษในชีวิตจริง ผ่านภารกิจที่สนุกสนานและท้าทาย เพื่อเปลี่ยนทัศนคติของผู้เรียนจากการมองว่าภาษาอังกฤษเป็นเรื่องยาก ให้กลายเป็นเรื่องที่สนุกและเป็นส่วนหนึ่งของวิถีชีวิต พร้อมทั้งส่งเสริมให้เยาวชนใช้เวลาว่างบนโลกออนไลน์ให้เกิดประโยชน์สูงสุด</a:t>
            </a:r>
          </a:p>
          <a:p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7101268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412256" y="461664"/>
            <a:ext cx="6782937" cy="641641"/>
          </a:xfrm>
        </p:spPr>
        <p:txBody>
          <a:bodyPr/>
          <a:lstStyle/>
          <a:p>
            <a:r>
              <a:rPr lang="th-TH" dirty="0"/>
              <a:t>ความสำคัญและที่มา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952160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1391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454464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PSU">
      <a:dk1>
        <a:srgbClr val="FFFFFF"/>
      </a:dk1>
      <a:lt1>
        <a:srgbClr val="1D3B6D"/>
      </a:lt1>
      <a:dk2>
        <a:srgbClr val="FFFFFF"/>
      </a:dk2>
      <a:lt2>
        <a:srgbClr val="1D3B6D"/>
      </a:lt2>
      <a:accent1>
        <a:srgbClr val="406CB3"/>
      </a:accent1>
      <a:accent2>
        <a:srgbClr val="0190BA"/>
      </a:accent2>
      <a:accent3>
        <a:srgbClr val="52B3E6"/>
      </a:accent3>
      <a:accent4>
        <a:srgbClr val="5CC5E5"/>
      </a:accent4>
      <a:accent5>
        <a:srgbClr val="4472C4"/>
      </a:accent5>
      <a:accent6>
        <a:srgbClr val="C9C6DC"/>
      </a:accent6>
      <a:hlink>
        <a:srgbClr val="0190BA"/>
      </a:hlink>
      <a:folHlink>
        <a:srgbClr val="C9C6DC"/>
      </a:folHlink>
    </a:clrScheme>
    <a:fontScheme name="PSU Stidi">
      <a:majorFont>
        <a:latin typeface="PSU Stidti"/>
        <a:ea typeface=""/>
        <a:cs typeface="PSU Stidti"/>
      </a:majorFont>
      <a:minorFont>
        <a:latin typeface="PSU Stidti"/>
        <a:ea typeface=""/>
        <a:cs typeface="PSU Stidt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1165</TotalTime>
  <Words>1578</Words>
  <Application>Microsoft Office PowerPoint</Application>
  <PresentationFormat>Widescreen</PresentationFormat>
  <Paragraphs>170</Paragraphs>
  <Slides>16</Slides>
  <Notes>11</Notes>
  <HiddenSlides>4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PSU Stidti Light</vt:lpstr>
      <vt:lpstr>Arial</vt:lpstr>
      <vt:lpstr>Calibri</vt:lpstr>
      <vt:lpstr>TH Sarabun New</vt:lpstr>
      <vt:lpstr>Office Theme</vt:lpstr>
      <vt:lpstr>PowerPoint Presentation</vt:lpstr>
      <vt:lpstr>ความสำคัญและที่มา</vt:lpstr>
      <vt:lpstr>วัตถุประสงค์</vt:lpstr>
      <vt:lpstr>ขอบเขตของโครงงาน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ประโยชน์ที่คาดว่าจะได้รับ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Kattika Tanyong</dc:creator>
  <cp:lastModifiedBy>Sarankorn Chaisuntranon (ศรัณย์กร ชัยสุนทรานนท์)</cp:lastModifiedBy>
  <cp:revision>30</cp:revision>
  <dcterms:created xsi:type="dcterms:W3CDTF">2018-04-27T11:52:02Z</dcterms:created>
  <dcterms:modified xsi:type="dcterms:W3CDTF">2026-03-15T14:18:54Z</dcterms:modified>
</cp:coreProperties>
</file>